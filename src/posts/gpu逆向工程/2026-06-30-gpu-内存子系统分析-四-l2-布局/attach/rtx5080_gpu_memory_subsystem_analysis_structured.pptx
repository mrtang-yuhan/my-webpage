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256" r:id="rId3"/>
    <p:sldId id="258" r:id="rId5"/>
    <p:sldId id="260" r:id="rId6"/>
    <p:sldId id="302" r:id="rId7"/>
    <p:sldId id="262" r:id="rId8"/>
    <p:sldId id="263" r:id="rId9"/>
    <p:sldId id="267" r:id="rId10"/>
    <p:sldId id="268" r:id="rId11"/>
    <p:sldId id="269" r:id="rId12"/>
    <p:sldId id="270" r:id="rId13"/>
    <p:sldId id="271" r:id="rId14"/>
    <p:sldId id="272" r:id="rId15"/>
    <p:sldId id="293" r:id="rId16"/>
    <p:sldId id="274" r:id="rId17"/>
    <p:sldId id="298" r:id="rId18"/>
    <p:sldId id="275" r:id="rId19"/>
    <p:sldId id="282" r:id="rId20"/>
    <p:sldId id="28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0" userDrawn="1">
          <p15:clr>
            <a:srgbClr val="A4A3A4"/>
          </p15:clr>
        </p15:guide>
        <p15:guide id="2" pos="2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558" autoAdjust="0"/>
  </p:normalViewPr>
  <p:slideViewPr>
    <p:cSldViewPr snapToGrid="0" snapToObjects="1" showGuides="1">
      <p:cViewPr varScale="1">
        <p:scale>
          <a:sx n="94" d="100"/>
          <a:sy n="94" d="100"/>
        </p:scale>
        <p:origin x="474" y="90"/>
      </p:cViewPr>
      <p:guideLst>
        <p:guide orient="horz" pos="2080"/>
        <p:guide pos="28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规则</a:t>
            </a:r>
            <a:r>
              <a:rPr lang="zh-CN" altLang="en-US"/>
              <a:t>说明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固定</a:t>
            </a:r>
            <a:r>
              <a:rPr lang="en-US" altLang="zh-CN"/>
              <a:t> SM </a:t>
            </a:r>
            <a:r>
              <a:rPr lang="zh-CN" altLang="en-US"/>
              <a:t>和</a:t>
            </a:r>
            <a:r>
              <a:rPr lang="en-US" altLang="zh-CN"/>
              <a:t> </a:t>
            </a:r>
            <a:r>
              <a:rPr lang="zh-CN" altLang="en-US"/>
              <a:t>内存</a:t>
            </a:r>
            <a:r>
              <a:rPr lang="zh-CN" altLang="en-US"/>
              <a:t>频率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是整个</a:t>
            </a:r>
            <a:r>
              <a:rPr lang="en-US" altLang="zh-CN"/>
              <a:t> GPU </a:t>
            </a:r>
            <a:r>
              <a:rPr lang="zh-CN" altLang="en-US"/>
              <a:t>的聚合</a:t>
            </a:r>
            <a:r>
              <a:rPr lang="en-US" altLang="zh-CN"/>
              <a:t> L1 </a:t>
            </a:r>
            <a:r>
              <a:rPr lang="zh-CN" altLang="en-US"/>
              <a:t>和</a:t>
            </a:r>
            <a:r>
              <a:rPr lang="en-US" altLang="zh-CN"/>
              <a:t> L2</a:t>
            </a:r>
            <a:r>
              <a:rPr lang="zh-CN" altLang="en-US"/>
              <a:t>带宽。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L2</a:t>
            </a:r>
            <a:r>
              <a:rPr lang="zh-CN" altLang="en-US"/>
              <a:t>和</a:t>
            </a:r>
            <a:r>
              <a:rPr lang="en-US" altLang="zh-CN"/>
              <a:t>DRAM</a:t>
            </a:r>
            <a:r>
              <a:rPr lang="zh-CN" altLang="en-US"/>
              <a:t>测量延迟值也与前面测量基本</a:t>
            </a:r>
            <a:r>
              <a:rPr lang="zh-CN" altLang="en-US"/>
              <a:t>一致。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对称</a:t>
            </a:r>
            <a:r>
              <a:rPr lang="zh-CN" altLang="en-US"/>
              <a:t>结构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52A92-F717-4508-974F-7ABB76031519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73FE1-0CAA-4C41-8CB5-86D88930471D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3BDC-7F04-4857-A2CF-003AC9E9CDC8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5BDE8-09BA-47BD-B5E9-8C907FA280DB}" type="datetime1">
              <a:rPr lang="en-US" altLang="zh-C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CED1D-47BB-4CEC-A6B1-5084939EE015}" type="datetime1">
              <a:rPr lang="en-US" altLang="zh-C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7499C-BEFD-433B-AE96-1E8102E96ECA}" type="datetime1">
              <a:rPr lang="en-US" altLang="zh-CN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5FDC-E27E-4557-9734-32B2D365686E}" type="datetime1">
              <a:rPr lang="en-US" altLang="zh-CN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BB36B-1DE0-4DD3-A4A1-CF71ACBE4EBB}" type="datetime1">
              <a:rPr lang="en-US" altLang="zh-C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3C597-F21F-4A69-80C8-D27A60A197FD}" type="datetime1">
              <a:rPr lang="en-US" altLang="zh-C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3DE9F-2EFE-4E2F-84A8-AEED1D7322F8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E073-8D80-4876-B539-B9CAAE646A16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B3399-505C-4414-9FC2-2BC5DE1054D8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1" Type="http://schemas.openxmlformats.org/officeDocument/2006/relationships/tags" Target="../tags/tag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0.png"/><Relationship Id="rId1" Type="http://schemas.openxmlformats.org/officeDocument/2006/relationships/tags" Target="../tags/tag3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image" Target="../media/image12.png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image" Target="../media/image14.png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69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4" Type="http://schemas.openxmlformats.org/officeDocument/2006/relationships/notesSlide" Target="../notesSlides/notesSlide14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tags" Target="../tags/tag78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81.xml"/><Relationship Id="rId3" Type="http://schemas.openxmlformats.org/officeDocument/2006/relationships/image" Target="../media/image19.png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0.png"/><Relationship Id="rId1" Type="http://schemas.openxmlformats.org/officeDocument/2006/relationships/tags" Target="../tags/tag8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2" Type="http://schemas.openxmlformats.org/officeDocument/2006/relationships/notesSlide" Target="../notesSlides/notesSlide17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99.xml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236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52"/>
          </a:solidFill>
          <a:ln>
            <a:solidFill>
              <a:srgbClr val="14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84502"/>
            <a:ext cx="10195560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3600" b="1" i="0">
                <a:solidFill>
                  <a:srgbClr val="143052"/>
                </a:solidFill>
                <a:latin typeface="微软雅黑" panose="020B0503020204020204" charset="-122"/>
              </a:rPr>
              <a:t>RTX 5080 GPU</a:t>
            </a:r>
            <a:endParaRPr sz="36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9965" y="2780030"/>
            <a:ext cx="10165715" cy="6629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3600" b="1" i="0">
                <a:solidFill>
                  <a:srgbClr val="143052"/>
                </a:solidFill>
                <a:latin typeface="微软雅黑" panose="020B0503020204020204" charset="-122"/>
              </a:rPr>
              <a:t>逆向分析</a:t>
            </a:r>
            <a:endParaRPr sz="36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987552" y="4096512"/>
            <a:ext cx="5596128" cy="0"/>
          </a:xfrm>
          <a:prstGeom prst="line">
            <a:avLst/>
          </a:prstGeom>
          <a:ln w="30480">
            <a:solidFill>
              <a:srgbClr val="009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87552" y="4443984"/>
            <a:ext cx="9784080" cy="32448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677584"/>
                </a:solidFill>
                <a:latin typeface="微软雅黑" panose="020B0503020204020204" charset="-122"/>
              </a:rPr>
              <a:t>基于 NVIDIA Blackwell 官方架构白皮书与本地微基准实验结果</a:t>
            </a:r>
            <a:r>
              <a:rPr lang="en-US" sz="1400" b="0" i="0">
                <a:solidFill>
                  <a:srgbClr val="677584"/>
                </a:solidFill>
                <a:latin typeface="微软雅黑" panose="020B0503020204020204" charset="-122"/>
              </a:rPr>
              <a:t> </a:t>
            </a:r>
            <a:endParaRPr lang="en-US" sz="1400" b="0" i="0">
              <a:solidFill>
                <a:srgbClr val="67758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3052"/>
          </a:solidFill>
          <a:ln>
            <a:solidFill>
              <a:srgbClr val="14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43052"/>
                </a:solidFill>
                <a:latin typeface="微软雅黑" panose="020B0503020204020204" charset="-122"/>
              </a:rPr>
              <a:t>RTX 5080 官方硬件背景</a:t>
            </a:r>
            <a:endParaRPr sz="25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47472"/>
            <a:ext cx="14173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677584"/>
                </a:solidFill>
                <a:latin typeface="微软雅黑" panose="020B0503020204020204" charset="-122"/>
              </a:rPr>
              <a:t>02</a:t>
            </a:r>
            <a:endParaRPr sz="900" b="0" i="0">
              <a:solidFill>
                <a:srgbClr val="67758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474835" y="1388745"/>
            <a:ext cx="2247900" cy="4578985"/>
          </a:xfrm>
          <a:prstGeom prst="roundRect">
            <a:avLst>
              <a:gd name="adj" fmla="val 8000"/>
            </a:avLst>
          </a:prstGeom>
          <a:solidFill>
            <a:srgbClr val="E5EFF8"/>
          </a:solidFill>
          <a:ln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75800" y="2183765"/>
            <a:ext cx="2045970" cy="37096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l"/>
            <a:r>
              <a:rPr lang="en-US" sz="1200" b="1" dirty="0">
                <a:solidFill>
                  <a:srgbClr val="143052"/>
                </a:solidFill>
                <a:latin typeface="微软雅黑" panose="020B0503020204020204" charset="-122"/>
                <a:sym typeface="+mn-ea"/>
              </a:rPr>
              <a:t>RTX 5080 </a:t>
            </a:r>
            <a:r>
              <a:rPr sz="1200" b="1" i="0" dirty="0" err="1">
                <a:solidFill>
                  <a:srgbClr val="143052"/>
                </a:solidFill>
                <a:latin typeface="微软雅黑" panose="020B0503020204020204" charset="-122"/>
              </a:rPr>
              <a:t>官方规格</a:t>
            </a:r>
            <a:r>
              <a:rPr sz="1200" b="1" i="0" dirty="0">
                <a:solidFill>
                  <a:srgbClr val="143052"/>
                </a:solidFill>
                <a:latin typeface="微软雅黑" panose="020B0503020204020204" charset="-122"/>
              </a:rPr>
              <a:t>：</a:t>
            </a:r>
            <a:endParaRPr sz="1200" b="1" i="0" dirty="0">
              <a:solidFill>
                <a:srgbClr val="143052"/>
              </a:solidFill>
              <a:latin typeface="微软雅黑" panose="020B0503020204020204" charset="-122"/>
            </a:endParaRPr>
          </a:p>
          <a:p>
            <a:pPr algn="l"/>
            <a:endParaRPr sz="1200" b="1" i="0" dirty="0">
              <a:solidFill>
                <a:srgbClr val="143052"/>
              </a:solidFill>
              <a:latin typeface="微软雅黑" panose="020B0503020204020204" charset="-122"/>
            </a:endParaRPr>
          </a:p>
          <a:p>
            <a:pPr algn="l"/>
            <a:r>
              <a:rPr sz="1200" b="1" i="0" dirty="0">
                <a:solidFill>
                  <a:srgbClr val="143052"/>
                </a:solidFill>
                <a:latin typeface="微软雅黑" panose="020B0503020204020204" charset="-122"/>
              </a:rPr>
              <a:t>7 GPC｜42 TPC｜84 SM
</a:t>
            </a:r>
            <a:endParaRPr sz="1200" b="1" i="0" dirty="0">
              <a:solidFill>
                <a:srgbClr val="143052"/>
              </a:solidFill>
              <a:latin typeface="微软雅黑" panose="020B0503020204020204" charset="-122"/>
            </a:endParaRPr>
          </a:p>
          <a:p>
            <a:pPr algn="l"/>
            <a:r>
              <a:rPr sz="1200" b="1" i="0" dirty="0">
                <a:solidFill>
                  <a:srgbClr val="143052"/>
                </a:solidFill>
                <a:latin typeface="微软雅黑" panose="020B0503020204020204" charset="-122"/>
              </a:rPr>
              <a:t>16 GB GDDR7｜960 GB/s</a:t>
            </a:r>
            <a:endParaRPr sz="1200" b="1" i="0" dirty="0">
              <a:solidFill>
                <a:srgbClr val="143052"/>
              </a:solidFill>
              <a:latin typeface="微软雅黑" panose="020B0503020204020204" charset="-122"/>
            </a:endParaRPr>
          </a:p>
          <a:p>
            <a:pPr algn="l"/>
            <a:endParaRPr sz="1200" b="1" i="0" dirty="0">
              <a:solidFill>
                <a:srgbClr val="143052"/>
              </a:solidFill>
              <a:latin typeface="微软雅黑" panose="020B0503020204020204" charset="-122"/>
            </a:endParaRPr>
          </a:p>
          <a:p>
            <a:pPr algn="l"/>
            <a:r>
              <a:rPr sz="1200" b="1" i="0" dirty="0">
                <a:solidFill>
                  <a:srgbClr val="143052"/>
                </a:solidFill>
                <a:latin typeface="微软雅黑" panose="020B0503020204020204" charset="-122"/>
              </a:rPr>
              <a:t>64 MiB L2</a:t>
            </a:r>
            <a:r>
              <a:rPr sz="1200" b="1" dirty="0">
                <a:solidFill>
                  <a:srgbClr val="143052"/>
                </a:solidFill>
                <a:latin typeface="微软雅黑" panose="020B0503020204020204" charset="-122"/>
                <a:sym typeface="+mn-ea"/>
              </a:rPr>
              <a:t>｜</a:t>
            </a:r>
            <a:r>
              <a:rPr lang="en-US" sz="1200" b="1" dirty="0">
                <a:solidFill>
                  <a:srgbClr val="143052"/>
                </a:solidFill>
                <a:latin typeface="微软雅黑" panose="020B0503020204020204" charset="-122"/>
                <a:sym typeface="+mn-ea"/>
              </a:rPr>
              <a:t>128 KiB L1/SM </a:t>
            </a:r>
            <a:endParaRPr lang="en-US" sz="1200" b="1" dirty="0">
              <a:solidFill>
                <a:srgbClr val="143052"/>
              </a:solidFill>
              <a:latin typeface="微软雅黑" panose="020B0503020204020204" charset="-122"/>
              <a:sym typeface="+mn-ea"/>
            </a:endParaRPr>
          </a:p>
          <a:p>
            <a:pPr algn="l"/>
            <a:endParaRPr lang="en-US" sz="1200" b="1" i="0" dirty="0">
              <a:solidFill>
                <a:srgbClr val="143052"/>
              </a:solidFill>
              <a:latin typeface="微软雅黑" panose="020B0503020204020204" charset="-122"/>
              <a:sym typeface="+mn-ea"/>
            </a:endParaRPr>
          </a:p>
          <a:p>
            <a:pPr algn="l"/>
            <a:r>
              <a:rPr sz="1200" b="1" dirty="0">
                <a:solidFill>
                  <a:srgbClr val="143052"/>
                </a:solidFill>
                <a:latin typeface="微软雅黑" panose="020B0503020204020204" charset="-122"/>
                <a:sym typeface="+mn-ea"/>
              </a:rPr>
              <a:t>10,752 </a:t>
            </a:r>
            <a:r>
              <a:rPr lang="en-US" sz="1200" b="1" dirty="0">
                <a:solidFill>
                  <a:srgbClr val="143052"/>
                </a:solidFill>
                <a:latin typeface="微软雅黑" panose="020B0503020204020204" charset="-122"/>
                <a:sym typeface="+mn-ea"/>
              </a:rPr>
              <a:t>FP32 </a:t>
            </a:r>
            <a:r>
              <a:rPr sz="1200" b="1" dirty="0">
                <a:solidFill>
                  <a:srgbClr val="143052"/>
                </a:solidFill>
                <a:latin typeface="微软雅黑" panose="020B0503020204020204" charset="-122"/>
                <a:sym typeface="+mn-ea"/>
              </a:rPr>
              <a:t>CUDA Core｜</a:t>
            </a:r>
            <a:r>
              <a:rPr lang="en-US" sz="1200" b="1" dirty="0">
                <a:solidFill>
                  <a:srgbClr val="143052"/>
                </a:solidFill>
                <a:latin typeface="微软雅黑" panose="020B0503020204020204" charset="-122"/>
                <a:sym typeface="+mn-ea"/>
              </a:rPr>
              <a:t> 56. 3 Peak FP32 TFLOPS (non-Tensor)</a:t>
            </a:r>
            <a:endParaRPr sz="1200" b="1" i="0" dirty="0">
              <a:solidFill>
                <a:srgbClr val="143052"/>
              </a:solidFill>
              <a:latin typeface="微软雅黑" panose="020B0503020204020204" charset="-122"/>
            </a:endParaRPr>
          </a:p>
          <a:p>
            <a:pPr algn="l"/>
            <a:endParaRPr lang="en-US" sz="1200" b="1" i="0" dirty="0">
              <a:solidFill>
                <a:srgbClr val="143052"/>
              </a:solidFill>
              <a:latin typeface="微软雅黑" panose="020B0503020204020204" charset="-122"/>
              <a:sym typeface="+mn-ea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750" b="0" i="0">
                <a:solidFill>
                  <a:srgbClr val="677584"/>
                </a:solidFill>
                <a:latin typeface="微软雅黑" panose="020B0503020204020204" charset="-122"/>
              </a:rPr>
              <a:t>来源：NVIDIA RTX Blackwell GPU Architecture Whitepaper，第 49–51 页</a:t>
            </a:r>
            <a:endParaRPr sz="750" b="0" i="0">
              <a:solidFill>
                <a:srgbClr val="677584"/>
              </a:solidFill>
              <a:latin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10" y="1019175"/>
            <a:ext cx="4319905" cy="517080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315" y="1122680"/>
            <a:ext cx="4287520" cy="506730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589135" y="6489192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6" name="矩形 5"/>
          <p:cNvSpPr/>
          <p:nvPr/>
        </p:nvSpPr>
        <p:spPr>
          <a:xfrm>
            <a:off x="3900170" y="3307715"/>
            <a:ext cx="977265" cy="365125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3052"/>
          </a:solidFill>
          <a:ln>
            <a:solidFill>
              <a:srgbClr val="14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43052"/>
                </a:solidFill>
                <a:latin typeface="微软雅黑" panose="020B0503020204020204" charset="-122"/>
              </a:rPr>
              <a:t>实验方法框架</a:t>
            </a:r>
            <a:endParaRPr sz="25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47472"/>
            <a:ext cx="14173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677584"/>
                </a:solidFill>
                <a:latin typeface="微软雅黑" panose="020B0503020204020204" charset="-122"/>
              </a:rPr>
              <a:t>04</a:t>
            </a:r>
            <a:endParaRPr sz="900" b="0" i="0">
              <a:solidFill>
                <a:srgbClr val="677584"/>
              </a:solidFill>
              <a:latin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>
            <p:custDataLst>
              <p:tags r:id="rId1"/>
            </p:custDataLst>
          </p:nvPr>
        </p:nvSpPr>
        <p:spPr>
          <a:xfrm>
            <a:off x="658368" y="1353312"/>
            <a:ext cx="2084831" cy="1993392"/>
          </a:xfrm>
          <a:prstGeom prst="roundRect">
            <a:avLst>
              <a:gd name="adj" fmla="val 8000"/>
            </a:avLst>
          </a:prstGeom>
          <a:solidFill>
            <a:srgbClr val="E5EFF8"/>
          </a:solidFill>
          <a:ln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>
            <p:custDataLst>
              <p:tags r:id="rId2"/>
            </p:custDataLst>
          </p:nvPr>
        </p:nvSpPr>
        <p:spPr>
          <a:xfrm>
            <a:off x="822959" y="1481328"/>
            <a:ext cx="1755648" cy="302895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 dirty="0">
                <a:solidFill>
                  <a:srgbClr val="143052"/>
                </a:solidFill>
                <a:latin typeface="微软雅黑" panose="020B0503020204020204" charset="-122"/>
              </a:rPr>
              <a:t>1  </a:t>
            </a:r>
            <a:r>
              <a:rPr sz="1500" b="1" dirty="0" err="1">
                <a:solidFill>
                  <a:srgbClr val="143052"/>
                </a:solidFill>
                <a:latin typeface="微软雅黑" panose="020B0503020204020204" charset="-122"/>
              </a:rPr>
              <a:t>构造微基准</a:t>
            </a:r>
            <a:endParaRPr sz="1500" b="1" dirty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>
            <p:custDataLst>
              <p:tags r:id="rId3"/>
            </p:custDataLst>
          </p:nvPr>
        </p:nvSpPr>
        <p:spPr>
          <a:xfrm>
            <a:off x="822959" y="1792224"/>
            <a:ext cx="1755648" cy="672465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</a:rPr>
              <a:t>依赖地址链、顺序合并访问、冷热数据流、读改写负载</a:t>
            </a:r>
            <a:endParaRPr sz="130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>
            <p:custDataLst>
              <p:tags r:id="rId4"/>
            </p:custDataLst>
          </p:nvPr>
        </p:nvSpPr>
        <p:spPr>
          <a:xfrm>
            <a:off x="2944368" y="1353312"/>
            <a:ext cx="2084831" cy="1993392"/>
          </a:xfrm>
          <a:prstGeom prst="roundRect">
            <a:avLst>
              <a:gd name="adj" fmla="val 8000"/>
            </a:avLst>
          </a:prstGeom>
          <a:solidFill>
            <a:srgbClr val="E2F5F2"/>
          </a:solidFill>
          <a:ln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>
            <p:custDataLst>
              <p:tags r:id="rId5"/>
            </p:custDataLst>
          </p:nvPr>
        </p:nvSpPr>
        <p:spPr>
          <a:xfrm>
            <a:off x="3108960" y="1481328"/>
            <a:ext cx="1755648" cy="302895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00928E"/>
                </a:solidFill>
                <a:latin typeface="微软雅黑" panose="020B0503020204020204" charset="-122"/>
              </a:rPr>
              <a:t>2  隔离目标层级</a:t>
            </a:r>
            <a:endParaRPr sz="1500" b="1">
              <a:solidFill>
                <a:srgbClr val="00928E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>
            <p:custDataLst>
              <p:tags r:id="rId6"/>
            </p:custDataLst>
          </p:nvPr>
        </p:nvSpPr>
        <p:spPr>
          <a:xfrm>
            <a:off x="3108960" y="1792224"/>
            <a:ext cx="1755648" cy="87249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</a:rPr>
              <a:t>用访问指令、工作集大小及独立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</a:rPr>
              <a:t>/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</a:rPr>
              <a:t>共享数据区控制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</a:rPr>
              <a:t> L1、L2、DRAM</a:t>
            </a:r>
            <a:endParaRPr sz="130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>
            <p:custDataLst>
              <p:tags r:id="rId7"/>
            </p:custDataLst>
          </p:nvPr>
        </p:nvSpPr>
        <p:spPr>
          <a:xfrm>
            <a:off x="5230368" y="1353312"/>
            <a:ext cx="2084831" cy="1993392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>
            <p:custDataLst>
              <p:tags r:id="rId8"/>
            </p:custDataLst>
          </p:nvPr>
        </p:nvSpPr>
        <p:spPr>
          <a:xfrm>
            <a:off x="5394959" y="1481328"/>
            <a:ext cx="1755648" cy="302895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E07E2D"/>
                </a:solidFill>
                <a:latin typeface="微软雅黑" panose="020B0503020204020204" charset="-122"/>
              </a:rPr>
              <a:t>3  扫描关键变量</a:t>
            </a:r>
            <a:endParaRPr sz="1500" b="1">
              <a:solidFill>
                <a:srgbClr val="E07E2D"/>
              </a:solidFill>
              <a:latin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>
            <p:custDataLst>
              <p:tags r:id="rId9"/>
            </p:custDataLst>
          </p:nvPr>
        </p:nvSpPr>
        <p:spPr>
          <a:xfrm>
            <a:off x="5394959" y="1792224"/>
            <a:ext cx="1755648" cy="87249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</a:rPr>
              <a:t>改变工作集、访问步长、线程与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</a:rPr>
              <a:t>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</a:rPr>
              <a:t>block、读写比例、地址探针和算术强度</a:t>
            </a:r>
            <a:endParaRPr sz="130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52" name="Rounded Rectangle 51"/>
          <p:cNvSpPr/>
          <p:nvPr>
            <p:custDataLst>
              <p:tags r:id="rId10"/>
            </p:custDataLst>
          </p:nvPr>
        </p:nvSpPr>
        <p:spPr>
          <a:xfrm>
            <a:off x="7516368" y="1353312"/>
            <a:ext cx="2084831" cy="1993392"/>
          </a:xfrm>
          <a:prstGeom prst="roundRect">
            <a:avLst>
              <a:gd name="adj" fmla="val 8000"/>
            </a:avLst>
          </a:prstGeom>
          <a:solidFill>
            <a:srgbClr val="E5EFF8"/>
          </a:solidFill>
          <a:ln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>
            <p:custDataLst>
              <p:tags r:id="rId11"/>
            </p:custDataLst>
          </p:nvPr>
        </p:nvSpPr>
        <p:spPr>
          <a:xfrm>
            <a:off x="7680960" y="1481328"/>
            <a:ext cx="1755648" cy="302895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143052"/>
                </a:solidFill>
                <a:latin typeface="微软雅黑" panose="020B0503020204020204" charset="-122"/>
              </a:rPr>
              <a:t>4  设置对照实验</a:t>
            </a:r>
            <a:endParaRPr sz="1500" b="1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>
            <p:custDataLst>
              <p:tags r:id="rId12"/>
            </p:custDataLst>
          </p:nvPr>
        </p:nvSpPr>
        <p:spPr>
          <a:xfrm>
            <a:off x="7680960" y="1792224"/>
            <a:ext cx="1755648" cy="87249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</a:rPr>
              <a:t>比较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</a:rPr>
              <a:t> scalar/float4、默认/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</a:rPr>
              <a:t>Persisting、不同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</a:rPr>
              <a:t> cache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</a:rPr>
              <a:t>policy、地址与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</a:rPr>
              <a:t> SM</a:t>
            </a:r>
            <a:endParaRPr sz="130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55" name="Rounded Rectangle 54"/>
          <p:cNvSpPr/>
          <p:nvPr>
            <p:custDataLst>
              <p:tags r:id="rId13"/>
            </p:custDataLst>
          </p:nvPr>
        </p:nvSpPr>
        <p:spPr>
          <a:xfrm>
            <a:off x="9802368" y="1353312"/>
            <a:ext cx="2084831" cy="1993392"/>
          </a:xfrm>
          <a:prstGeom prst="roundRect">
            <a:avLst>
              <a:gd name="adj" fmla="val 8000"/>
            </a:avLst>
          </a:prstGeom>
          <a:solidFill>
            <a:srgbClr val="E2F5F2"/>
          </a:solidFill>
          <a:ln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>
            <p:custDataLst>
              <p:tags r:id="rId14"/>
            </p:custDataLst>
          </p:nvPr>
        </p:nvSpPr>
        <p:spPr>
          <a:xfrm>
            <a:off x="9966960" y="1481328"/>
            <a:ext cx="1755648" cy="302895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00928E"/>
                </a:solidFill>
                <a:latin typeface="微软雅黑" panose="020B0503020204020204" charset="-122"/>
              </a:rPr>
              <a:t>5  分析结构规律</a:t>
            </a:r>
            <a:endParaRPr sz="1500" b="1">
              <a:solidFill>
                <a:srgbClr val="00928E"/>
              </a:solidFill>
              <a:latin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>
            <p:custDataLst>
              <p:tags r:id="rId15"/>
            </p:custDataLst>
          </p:nvPr>
        </p:nvSpPr>
        <p:spPr>
          <a:xfrm>
            <a:off x="9966960" y="1792224"/>
            <a:ext cx="1755648" cy="87249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</a:rPr>
              <a:t>观察延迟平台、峰值带宽、容量转折、热力图、聚类与模型拟合</a:t>
            </a:r>
            <a:endParaRPr sz="130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81888" y="3977639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37920" y="4224528"/>
            <a:ext cx="10149840" cy="56692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b="1" dirty="0" err="1">
                <a:solidFill>
                  <a:srgbClr val="143052"/>
                </a:solidFill>
                <a:latin typeface="微软雅黑" panose="020B0503020204020204" charset="-122"/>
              </a:rPr>
              <a:t>通过可控微基准逐项改变访存模式和资源压力，从性能曲线反推出内存层级特征</a:t>
            </a:r>
            <a:r>
              <a:rPr b="1" dirty="0">
                <a:solidFill>
                  <a:srgbClr val="143052"/>
                </a:solidFill>
                <a:latin typeface="微软雅黑" panose="020B0503020204020204" charset="-122"/>
              </a:rPr>
              <a:t>。</a:t>
            </a:r>
            <a:endParaRPr b="1" dirty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55040" y="5440680"/>
            <a:ext cx="10515600" cy="3474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300" b="1">
                <a:solidFill>
                  <a:srgbClr val="00928E"/>
                </a:solidFill>
                <a:latin typeface="微软雅黑" panose="020B0503020204020204" charset="-122"/>
              </a:rPr>
              <a:t>共同原则：一次只改变少量关键变量，并用对照组验证观察到的性能转折。</a:t>
            </a:r>
            <a:endParaRPr sz="1300" b="1">
              <a:solidFill>
                <a:srgbClr val="00928E"/>
              </a:solidFill>
              <a:latin typeface="微软雅黑" panose="020B0503020204020204" charset="-122"/>
            </a:endParaRPr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589135" y="6489192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3052"/>
          </a:solidFill>
          <a:ln>
            <a:solidFill>
              <a:srgbClr val="14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 dirty="0" err="1">
                <a:solidFill>
                  <a:srgbClr val="143052"/>
                </a:solidFill>
                <a:latin typeface="微软雅黑" panose="020B0503020204020204" charset="-122"/>
              </a:rPr>
              <a:t>测试点一：内存层级延迟</a:t>
            </a:r>
            <a:endParaRPr sz="2500" b="1" i="0" dirty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47472"/>
            <a:ext cx="14173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677584"/>
                </a:solidFill>
                <a:latin typeface="微软雅黑" panose="020B0503020204020204" charset="-122"/>
              </a:rPr>
              <a:t>05</a:t>
            </a:r>
            <a:endParaRPr sz="900" b="0" i="0">
              <a:solidFill>
                <a:srgbClr val="677584"/>
              </a:solidFill>
              <a:latin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018413" y="4160520"/>
            <a:ext cx="899922" cy="0"/>
          </a:xfrm>
          <a:prstGeom prst="line">
            <a:avLst/>
          </a:prstGeom>
          <a:ln w="25400">
            <a:solidFill>
              <a:srgbClr val="0092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918335" y="3822191"/>
            <a:ext cx="1051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9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18335" y="4023360"/>
            <a:ext cx="1051560" cy="30924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143052"/>
                </a:solidFill>
                <a:latin typeface="微软雅黑" panose="020B0503020204020204" charset="-122"/>
              </a:rPr>
              <a:t>地址 A</a:t>
            </a:r>
            <a:endParaRPr sz="13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250055" y="3822191"/>
            <a:ext cx="1051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9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0055" y="4023360"/>
            <a:ext cx="1051560" cy="30924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143052"/>
                </a:solidFill>
                <a:latin typeface="微软雅黑" panose="020B0503020204020204" charset="-122"/>
              </a:rPr>
              <a:t>地址 B</a:t>
            </a:r>
            <a:endParaRPr sz="13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81774" y="3822191"/>
            <a:ext cx="1051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9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1774" y="4023360"/>
            <a:ext cx="1051560" cy="30924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143052"/>
                </a:solidFill>
                <a:latin typeface="微软雅黑" panose="020B0503020204020204" charset="-122"/>
              </a:rPr>
              <a:t>地址 C</a:t>
            </a:r>
            <a:endParaRPr sz="13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913495" y="3822191"/>
            <a:ext cx="1051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9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3495" y="4023360"/>
            <a:ext cx="1051560" cy="30924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143052"/>
                </a:solidFill>
                <a:latin typeface="微软雅黑" panose="020B0503020204020204" charset="-122"/>
              </a:rPr>
              <a:t>地址 D</a:t>
            </a:r>
            <a:endParaRPr sz="13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61135" y="5074920"/>
            <a:ext cx="7604760" cy="38779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143052"/>
                </a:solidFill>
                <a:latin typeface="微软雅黑" panose="020B0503020204020204" charset="-122"/>
              </a:rPr>
              <a:t>下一次加载地址依赖上一次返回值，阻止硬件通过并行访存隐藏延迟。</a:t>
            </a:r>
            <a:endParaRPr sz="18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14"/>
          <p:cNvCxnSpPr/>
          <p:nvPr/>
        </p:nvCxnSpPr>
        <p:spPr>
          <a:xfrm>
            <a:off x="2969895" y="4160520"/>
            <a:ext cx="1280160" cy="0"/>
          </a:xfrm>
          <a:prstGeom prst="line">
            <a:avLst/>
          </a:prstGeom>
          <a:ln w="25400">
            <a:solidFill>
              <a:srgbClr val="0092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14"/>
          <p:cNvCxnSpPr/>
          <p:nvPr/>
        </p:nvCxnSpPr>
        <p:spPr>
          <a:xfrm>
            <a:off x="5301615" y="4165600"/>
            <a:ext cx="1280160" cy="0"/>
          </a:xfrm>
          <a:prstGeom prst="line">
            <a:avLst/>
          </a:prstGeom>
          <a:ln w="25400">
            <a:solidFill>
              <a:srgbClr val="0092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14"/>
          <p:cNvCxnSpPr/>
          <p:nvPr/>
        </p:nvCxnSpPr>
        <p:spPr>
          <a:xfrm>
            <a:off x="7633335" y="4163060"/>
            <a:ext cx="1280160" cy="0"/>
          </a:xfrm>
          <a:prstGeom prst="line">
            <a:avLst/>
          </a:prstGeom>
          <a:ln w="25400">
            <a:solidFill>
              <a:srgbClr val="0092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14"/>
          <p:cNvCxnSpPr/>
          <p:nvPr/>
        </p:nvCxnSpPr>
        <p:spPr>
          <a:xfrm flipV="1">
            <a:off x="9965055" y="4163060"/>
            <a:ext cx="928370" cy="5080"/>
          </a:xfrm>
          <a:prstGeom prst="line">
            <a:avLst/>
          </a:prstGeom>
          <a:ln w="25400">
            <a:solidFill>
              <a:srgbClr val="0092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589135" y="6489192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39" name="Rounded Rectangle 5"/>
          <p:cNvSpPr/>
          <p:nvPr>
            <p:custDataLst>
              <p:tags r:id="rId1"/>
            </p:custDataLst>
          </p:nvPr>
        </p:nvSpPr>
        <p:spPr>
          <a:xfrm>
            <a:off x="685800" y="1234440"/>
            <a:ext cx="3246120" cy="1948815"/>
          </a:xfrm>
          <a:prstGeom prst="roundRect">
            <a:avLst>
              <a:gd name="adj" fmla="val 8000"/>
            </a:avLst>
          </a:prstGeom>
          <a:solidFill>
            <a:srgbClr val="E5EFF8"/>
          </a:solidFill>
          <a:ln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6"/>
          <p:cNvSpPr txBox="1"/>
          <p:nvPr>
            <p:custDataLst>
              <p:tags r:id="rId2"/>
            </p:custDataLst>
          </p:nvPr>
        </p:nvSpPr>
        <p:spPr>
          <a:xfrm>
            <a:off x="932688" y="1508760"/>
            <a:ext cx="2697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43052"/>
                </a:solidFill>
                <a:latin typeface="微软雅黑" panose="020B0503020204020204" charset="-122"/>
              </a:rPr>
              <a:t>目标</a:t>
            </a:r>
            <a:endParaRPr sz="15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41" name="TextBox 7"/>
          <p:cNvSpPr txBox="1"/>
          <p:nvPr>
            <p:custDataLst>
              <p:tags r:id="rId3"/>
            </p:custDataLst>
          </p:nvPr>
        </p:nvSpPr>
        <p:spPr>
          <a:xfrm>
            <a:off x="932688" y="1874519"/>
            <a:ext cx="2697480" cy="5092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CN" altLang="en-US" sz="1300" i="0" dirty="0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</a:rPr>
              <a:t>测量 </a:t>
            </a:r>
            <a:r>
              <a:rPr lang="en-US" altLang="zh-CN" sz="1300" i="0" dirty="0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</a:rPr>
              <a:t>L1</a:t>
            </a:r>
            <a:r>
              <a:rPr lang="zh-CN" altLang="en-US" sz="1300" i="0" dirty="0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300" i="0" dirty="0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</a:rPr>
              <a:t>L2</a:t>
            </a:r>
            <a:r>
              <a:rPr lang="zh-CN" altLang="en-US" sz="1300" i="0" dirty="0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300" i="0" dirty="0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</a:rPr>
              <a:t>DRAM </a:t>
            </a:r>
            <a:r>
              <a:rPr lang="zh-CN" altLang="en-US" sz="1300" i="0" dirty="0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</a:rPr>
              <a:t>的真实依赖访问延迟</a:t>
            </a:r>
            <a:endParaRPr lang="zh-CN" altLang="en-US" sz="1300" i="0" dirty="0">
              <a:solidFill>
                <a:srgbClr val="222D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ounded Rectangle 8"/>
          <p:cNvSpPr/>
          <p:nvPr>
            <p:custDataLst>
              <p:tags r:id="rId4"/>
            </p:custDataLst>
          </p:nvPr>
        </p:nvSpPr>
        <p:spPr>
          <a:xfrm>
            <a:off x="4434840" y="1234440"/>
            <a:ext cx="3246120" cy="1948815"/>
          </a:xfrm>
          <a:prstGeom prst="roundRect">
            <a:avLst>
              <a:gd name="adj" fmla="val 8000"/>
            </a:avLst>
          </a:prstGeom>
          <a:solidFill>
            <a:srgbClr val="E2F5F2"/>
          </a:solidFill>
          <a:ln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9"/>
          <p:cNvSpPr txBox="1"/>
          <p:nvPr>
            <p:custDataLst>
              <p:tags r:id="rId5"/>
            </p:custDataLst>
          </p:nvPr>
        </p:nvSpPr>
        <p:spPr>
          <a:xfrm>
            <a:off x="4681728" y="1508760"/>
            <a:ext cx="2697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00928E"/>
                </a:solidFill>
                <a:latin typeface="微软雅黑" panose="020B0503020204020204" charset="-122"/>
              </a:rPr>
              <a:t>思路</a:t>
            </a:r>
            <a:endParaRPr sz="1500" b="1" i="0">
              <a:solidFill>
                <a:srgbClr val="00928E"/>
              </a:solidFill>
              <a:latin typeface="微软雅黑" panose="020B0503020204020204" charset="-122"/>
            </a:endParaRPr>
          </a:p>
        </p:txBody>
      </p:sp>
      <p:sp>
        <p:nvSpPr>
          <p:cNvPr id="44" name="TextBox 10"/>
          <p:cNvSpPr txBox="1"/>
          <p:nvPr>
            <p:custDataLst>
              <p:tags r:id="rId6"/>
            </p:custDataLst>
          </p:nvPr>
        </p:nvSpPr>
        <p:spPr>
          <a:xfrm>
            <a:off x="4681855" y="1874520"/>
            <a:ext cx="2697480" cy="702945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r>
              <a:rPr lang="zh-CN" altLang="en-US" sz="1300" dirty="0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</a:rPr>
              <a:t>构造严格依赖的随机 </a:t>
            </a:r>
            <a:r>
              <a:rPr lang="en-US" altLang="zh-CN" sz="1300" dirty="0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</a:rPr>
              <a:t>pointer chain</a:t>
            </a:r>
            <a:r>
              <a:rPr lang="zh-CN" altLang="en-US" sz="1300" dirty="0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</a:rPr>
              <a:t>，使下一次加载依赖上一次返回值；逐步扩大工作集，观察延迟平台变化。</a:t>
            </a:r>
            <a:endParaRPr lang="zh-CN" altLang="en-US" sz="1300" dirty="0">
              <a:solidFill>
                <a:srgbClr val="222D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ounded Rectangle 11"/>
          <p:cNvSpPr/>
          <p:nvPr>
            <p:custDataLst>
              <p:tags r:id="rId7"/>
            </p:custDataLst>
          </p:nvPr>
        </p:nvSpPr>
        <p:spPr>
          <a:xfrm>
            <a:off x="8183880" y="1234440"/>
            <a:ext cx="3246120" cy="1948815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12"/>
          <p:cNvSpPr txBox="1"/>
          <p:nvPr>
            <p:custDataLst>
              <p:tags r:id="rId8"/>
            </p:custDataLst>
          </p:nvPr>
        </p:nvSpPr>
        <p:spPr>
          <a:xfrm>
            <a:off x="8430768" y="1508760"/>
            <a:ext cx="2697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E07E2D"/>
                </a:solidFill>
                <a:latin typeface="微软雅黑" panose="020B0503020204020204" charset="-122"/>
              </a:rPr>
              <a:t>结果</a:t>
            </a:r>
            <a:endParaRPr sz="1500" b="1" i="0">
              <a:solidFill>
                <a:srgbClr val="E07E2D"/>
              </a:solidFill>
              <a:latin typeface="微软雅黑" panose="020B0503020204020204" charset="-122"/>
            </a:endParaRPr>
          </a:p>
        </p:txBody>
      </p:sp>
      <p:sp>
        <p:nvSpPr>
          <p:cNvPr id="47" name="TextBox 13"/>
          <p:cNvSpPr txBox="1"/>
          <p:nvPr>
            <p:custDataLst>
              <p:tags r:id="rId9"/>
            </p:custDataLst>
          </p:nvPr>
        </p:nvSpPr>
        <p:spPr>
          <a:xfrm>
            <a:off x="8430768" y="1874519"/>
            <a:ext cx="2697480" cy="51090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CN" altLang="en-US" sz="1300" i="0" dirty="0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</a:rPr>
              <a:t>曲线出现多个延迟平台，对应缓存命中到 </a:t>
            </a:r>
            <a:r>
              <a:rPr lang="en-US" altLang="zh-CN" sz="1300" i="0" dirty="0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</a:rPr>
              <a:t>DRAM </a:t>
            </a:r>
            <a:r>
              <a:rPr lang="zh-CN" altLang="en-US" sz="1300" i="0" dirty="0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</a:rPr>
              <a:t>的层级切换</a:t>
            </a:r>
            <a:endParaRPr lang="zh-CN" altLang="en-US" sz="1300" i="0" dirty="0">
              <a:solidFill>
                <a:srgbClr val="222D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3052"/>
          </a:solidFill>
          <a:ln>
            <a:solidFill>
              <a:srgbClr val="14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347472"/>
            <a:ext cx="14173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677584"/>
                </a:solidFill>
                <a:latin typeface="微软雅黑" panose="020B0503020204020204" charset="-122"/>
              </a:rPr>
              <a:t>06</a:t>
            </a:r>
            <a:endParaRPr sz="900" b="0" i="0">
              <a:solidFill>
                <a:srgbClr val="67758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303905" y="5293995"/>
            <a:ext cx="2026920" cy="305435"/>
          </a:xfrm>
          <a:prstGeom prst="roundRect">
            <a:avLst>
              <a:gd name="adj" fmla="val 8000"/>
            </a:avLst>
          </a:prstGeom>
          <a:solidFill>
            <a:srgbClr val="00928E"/>
          </a:solidFill>
          <a:ln>
            <a:solidFill>
              <a:srgbClr val="009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4550" y="5302250"/>
            <a:ext cx="187325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</a:rPr>
              <a:t>L1</a:t>
            </a:r>
            <a:r>
              <a:rPr lang="zh-CN" sz="1300" b="1" i="0">
                <a:solidFill>
                  <a:srgbClr val="FFFFFF"/>
                </a:solidFill>
                <a:latin typeface="微软雅黑" panose="020B0503020204020204" charset="-122"/>
              </a:rPr>
              <a:t>：</a:t>
            </a: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</a:rPr>
              <a:t>43</a:t>
            </a:r>
            <a:r>
              <a:rPr lang="en-US" sz="1300" b="1" i="0">
                <a:solidFill>
                  <a:srgbClr val="FFFFFF"/>
                </a:solidFill>
                <a:latin typeface="微软雅黑" panose="020B0503020204020204" charset="-122"/>
              </a:rPr>
              <a:t> cycles</a:t>
            </a:r>
            <a:endParaRPr lang="en-US" sz="13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8940" y="5293995"/>
            <a:ext cx="2013585" cy="300355"/>
          </a:xfrm>
          <a:prstGeom prst="roundRect">
            <a:avLst>
              <a:gd name="adj" fmla="val 8000"/>
            </a:avLst>
          </a:prstGeom>
          <a:solidFill>
            <a:srgbClr val="2670B1"/>
          </a:solidFill>
          <a:ln>
            <a:solidFill>
              <a:srgbClr val="26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49900" y="5302250"/>
            <a:ext cx="1878965" cy="269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</a:rPr>
              <a:t>L2</a:t>
            </a:r>
            <a:r>
              <a:rPr lang="zh-CN" sz="1300" b="1" i="0">
                <a:solidFill>
                  <a:srgbClr val="FFFFFF"/>
                </a:solidFill>
                <a:latin typeface="微软雅黑" panose="020B0503020204020204" charset="-122"/>
              </a:rPr>
              <a:t>：</a:t>
            </a: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</a:rPr>
              <a:t> 366</a:t>
            </a:r>
            <a:r>
              <a:rPr lang="en-US" sz="1300" b="1" i="0">
                <a:solidFill>
                  <a:srgbClr val="FFFFFF"/>
                </a:solidFill>
                <a:latin typeface="微软雅黑" panose="020B0503020204020204" charset="-122"/>
              </a:rPr>
              <a:t> cycles</a:t>
            </a:r>
            <a:endParaRPr lang="en-US" sz="13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679690" y="5293995"/>
            <a:ext cx="2045335" cy="292735"/>
          </a:xfrm>
          <a:prstGeom prst="roundRect">
            <a:avLst>
              <a:gd name="adj" fmla="val 8000"/>
            </a:avLst>
          </a:prstGeom>
          <a:solidFill>
            <a:srgbClr val="E07E2D"/>
          </a:solidFill>
          <a:ln>
            <a:solidFill>
              <a:srgbClr val="E0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9200" y="5293360"/>
            <a:ext cx="2174875" cy="274955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</a:rPr>
              <a:t>DRAM</a:t>
            </a:r>
            <a:r>
              <a:rPr lang="zh-CN" sz="1300" b="1" i="0">
                <a:solidFill>
                  <a:srgbClr val="FFFFFF"/>
                </a:solidFill>
                <a:latin typeface="微软雅黑" panose="020B0503020204020204" charset="-122"/>
              </a:rPr>
              <a:t>：</a:t>
            </a: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</a:rPr>
              <a:t> 922</a:t>
            </a:r>
            <a:r>
              <a:rPr lang="en-US" sz="1300" b="1" i="0">
                <a:solidFill>
                  <a:srgbClr val="FFFFFF"/>
                </a:solidFill>
                <a:latin typeface="微软雅黑" panose="020B0503020204020204" charset="-122"/>
              </a:rPr>
              <a:t> cycles</a:t>
            </a:r>
            <a:endParaRPr lang="en-US" sz="13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图片 19" descr="a22a9b19-c9a1-4960-8590-901676a9655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670" y="1698625"/>
            <a:ext cx="5735955" cy="3506470"/>
          </a:xfrm>
          <a:prstGeom prst="rect">
            <a:avLst/>
          </a:prstGeom>
        </p:spPr>
      </p:pic>
      <p:pic>
        <p:nvPicPr>
          <p:cNvPr id="21" name="图片 20" descr="a55fd5fa-1d0b-46b8-b823-fd8fc7be18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705" y="1673225"/>
            <a:ext cx="5809615" cy="3551555"/>
          </a:xfrm>
          <a:prstGeom prst="rect">
            <a:avLst/>
          </a:prstGeom>
        </p:spPr>
      </p:pic>
      <p:sp>
        <p:nvSpPr>
          <p:cNvPr id="23" name="TextBox 8"/>
          <p:cNvSpPr txBox="1"/>
          <p:nvPr/>
        </p:nvSpPr>
        <p:spPr>
          <a:xfrm>
            <a:off x="2991485" y="1438275"/>
            <a:ext cx="1179830" cy="31877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 indent="0">
              <a:spcAft>
                <a:spcPts val="800"/>
              </a:spcAft>
              <a:buNone/>
              <a:defRPr sz="1600">
                <a:solidFill>
                  <a:srgbClr val="222D3A"/>
                </a:solidFill>
                <a:latin typeface="微软雅黑" panose="020B0503020204020204" charset="-122"/>
              </a:defRPr>
            </a:pPr>
            <a:r>
              <a:rPr lang="zh-CN" altLang="en-US" b="1"/>
              <a:t>不旁路</a:t>
            </a:r>
            <a:r>
              <a:rPr lang="en-US" altLang="zh-CN" b="1"/>
              <a:t> L1</a:t>
            </a:r>
            <a:endParaRPr lang="en-US" altLang="zh-CN" b="1"/>
          </a:p>
        </p:txBody>
      </p:sp>
      <p:sp>
        <p:nvSpPr>
          <p:cNvPr id="24" name="TextBox 8"/>
          <p:cNvSpPr txBox="1"/>
          <p:nvPr/>
        </p:nvSpPr>
        <p:spPr>
          <a:xfrm>
            <a:off x="8576945" y="1438275"/>
            <a:ext cx="1179830" cy="31877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 indent="0">
              <a:spcAft>
                <a:spcPts val="800"/>
              </a:spcAft>
              <a:buNone/>
              <a:defRPr sz="1600">
                <a:solidFill>
                  <a:srgbClr val="222D3A"/>
                </a:solidFill>
                <a:latin typeface="微软雅黑" panose="020B0503020204020204" charset="-122"/>
              </a:defRPr>
            </a:pPr>
            <a:r>
              <a:rPr lang="zh-CN" altLang="en-US" b="1"/>
              <a:t>旁路</a:t>
            </a:r>
            <a:r>
              <a:rPr lang="en-US" altLang="zh-CN" b="1"/>
              <a:t> L1</a:t>
            </a:r>
            <a:endParaRPr lang="en-US" altLang="zh-CN" b="1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589135" y="6489192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 dirty="0" err="1">
                <a:solidFill>
                  <a:srgbClr val="143052"/>
                </a:solidFill>
                <a:latin typeface="微软雅黑" panose="020B0503020204020204" charset="-122"/>
              </a:rPr>
              <a:t>测试点一：内存层级延迟</a:t>
            </a:r>
            <a:endParaRPr sz="2500" b="1" i="0" dirty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1471295" y="4514215"/>
            <a:ext cx="0" cy="50482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3751580" y="3717290"/>
            <a:ext cx="0" cy="50482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5936615" y="2364740"/>
            <a:ext cx="0" cy="4476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8576945" y="3717290"/>
            <a:ext cx="0" cy="50482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V="1">
            <a:off x="11658600" y="2307590"/>
            <a:ext cx="0" cy="50482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252220" y="5019040"/>
            <a:ext cx="674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L1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544570" y="4145915"/>
            <a:ext cx="674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L2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365490" y="4145915"/>
            <a:ext cx="674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L2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1216640" y="2812415"/>
            <a:ext cx="10458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DRAM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461000" y="2793365"/>
            <a:ext cx="10458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DRAM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7"/>
          <p:cNvSpPr/>
          <p:nvPr/>
        </p:nvSpPr>
        <p:spPr>
          <a:xfrm>
            <a:off x="3303905" y="5826760"/>
            <a:ext cx="6318885" cy="520700"/>
          </a:xfrm>
          <a:prstGeom prst="roundRect">
            <a:avLst>
              <a:gd name="adj" fmla="val 8000"/>
            </a:avLst>
          </a:prstGeom>
          <a:solidFill>
            <a:srgbClr val="E5EFF8"/>
          </a:solidFill>
          <a:ln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8"/>
          <p:cNvSpPr txBox="1"/>
          <p:nvPr/>
        </p:nvSpPr>
        <p:spPr>
          <a:xfrm>
            <a:off x="3565525" y="5925820"/>
            <a:ext cx="5941695" cy="5461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l"/>
            <a:r>
              <a:rPr sz="1500" b="1">
                <a:solidFill>
                  <a:srgbClr val="143052"/>
                </a:solidFill>
                <a:latin typeface="微软雅黑" panose="020B0503020204020204" charset="-122"/>
                <a:sym typeface="+mn-ea"/>
              </a:rPr>
              <a:t>.ca</a:t>
            </a:r>
            <a:r>
              <a:rPr lang="en-US" sz="1500" b="1">
                <a:solidFill>
                  <a:srgbClr val="143052"/>
                </a:solidFill>
                <a:latin typeface="微软雅黑" panose="020B0503020204020204" charset="-122"/>
                <a:sym typeface="+mn-ea"/>
              </a:rPr>
              <a:t> </a:t>
            </a:r>
            <a:r>
              <a:rPr lang="zh-CN" altLang="en-US" sz="1500" b="1">
                <a:solidFill>
                  <a:srgbClr val="143052"/>
                </a:solidFill>
                <a:latin typeface="微软雅黑" panose="020B0503020204020204" charset="-122"/>
                <a:sym typeface="+mn-ea"/>
              </a:rPr>
              <a:t>和</a:t>
            </a:r>
            <a:r>
              <a:rPr lang="en-US" altLang="zh-CN" sz="1500" b="1">
                <a:solidFill>
                  <a:srgbClr val="143052"/>
                </a:solidFill>
                <a:latin typeface="微软雅黑" panose="020B0503020204020204" charset="-122"/>
                <a:sym typeface="+mn-ea"/>
              </a:rPr>
              <a:t> </a:t>
            </a:r>
            <a:r>
              <a:rPr sz="1500" b="1">
                <a:solidFill>
                  <a:srgbClr val="143052"/>
                </a:solidFill>
                <a:latin typeface="微软雅黑" panose="020B0503020204020204" charset="-122"/>
                <a:sym typeface="+mn-ea"/>
              </a:rPr>
              <a:t>.cg</a:t>
            </a:r>
            <a:r>
              <a:rPr lang="en-US" sz="1500" b="1">
                <a:solidFill>
                  <a:srgbClr val="143052"/>
                </a:solidFill>
                <a:latin typeface="微软雅黑" panose="020B0503020204020204" charset="-122"/>
                <a:sym typeface="+mn-ea"/>
              </a:rPr>
              <a:t> </a:t>
            </a:r>
            <a:r>
              <a:rPr lang="zh-CN" altLang="en-US" sz="1500" b="1">
                <a:solidFill>
                  <a:srgbClr val="143052"/>
                </a:solidFill>
                <a:latin typeface="微软雅黑" panose="020B0503020204020204" charset="-122"/>
                <a:sym typeface="+mn-ea"/>
              </a:rPr>
              <a:t>的缓存层级暗示生效。</a:t>
            </a:r>
            <a:r>
              <a:rPr lang="en-US" altLang="zh-CN" sz="1500" b="1">
                <a:solidFill>
                  <a:srgbClr val="143052"/>
                </a:solidFill>
                <a:latin typeface="微软雅黑" panose="020B0503020204020204" charset="-122"/>
                <a:sym typeface="+mn-ea"/>
              </a:rPr>
              <a:t> </a:t>
            </a:r>
            <a:endParaRPr lang="en-US" altLang="zh-CN" sz="1500" b="1">
              <a:solidFill>
                <a:srgbClr val="143052"/>
              </a:solidFill>
              <a:latin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3052"/>
          </a:solidFill>
          <a:ln>
            <a:solidFill>
              <a:srgbClr val="14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9339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500" b="1">
                <a:solidFill>
                  <a:srgbClr val="143052"/>
                </a:solidFill>
                <a:latin typeface="微软雅黑" panose="020B0503020204020204" charset="-122"/>
              </a:rPr>
              <a:t>测试点二：DRAM 带宽</a:t>
            </a:r>
            <a:endParaRPr sz="2500" b="1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47472"/>
            <a:ext cx="14173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677584"/>
                </a:solidFill>
                <a:latin typeface="微软雅黑" panose="020B0503020204020204" charset="-122"/>
              </a:rPr>
              <a:t>07</a:t>
            </a:r>
            <a:endParaRPr sz="900" b="0" i="0">
              <a:solidFill>
                <a:srgbClr val="677584"/>
              </a:solidFill>
              <a:latin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5"/>
          <p:cNvSpPr/>
          <p:nvPr>
            <p:custDataLst>
              <p:tags r:id="rId1"/>
            </p:custDataLst>
          </p:nvPr>
        </p:nvSpPr>
        <p:spPr>
          <a:xfrm>
            <a:off x="685800" y="1234440"/>
            <a:ext cx="3246120" cy="1948815"/>
          </a:xfrm>
          <a:prstGeom prst="roundRect">
            <a:avLst>
              <a:gd name="adj" fmla="val 8000"/>
            </a:avLst>
          </a:prstGeom>
          <a:solidFill>
            <a:srgbClr val="E5EFF8"/>
          </a:solidFill>
          <a:ln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6"/>
          <p:cNvSpPr txBox="1"/>
          <p:nvPr>
            <p:custDataLst>
              <p:tags r:id="rId2"/>
            </p:custDataLst>
          </p:nvPr>
        </p:nvSpPr>
        <p:spPr>
          <a:xfrm>
            <a:off x="932688" y="1508760"/>
            <a:ext cx="2697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43052"/>
                </a:solidFill>
                <a:latin typeface="微软雅黑" panose="020B0503020204020204" charset="-122"/>
              </a:rPr>
              <a:t>目标</a:t>
            </a:r>
            <a:endParaRPr sz="15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17" name="TextBox 7"/>
          <p:cNvSpPr txBox="1"/>
          <p:nvPr>
            <p:custDataLst>
              <p:tags r:id="rId3"/>
            </p:custDataLst>
          </p:nvPr>
        </p:nvSpPr>
        <p:spPr>
          <a:xfrm>
            <a:off x="932688" y="1874519"/>
            <a:ext cx="2697480" cy="5092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测量绕过缓存干扰后的真实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 DRAM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可达带宽</a:t>
            </a:r>
            <a:endParaRPr sz="1300" i="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8"/>
          <p:cNvSpPr/>
          <p:nvPr>
            <p:custDataLst>
              <p:tags r:id="rId4"/>
            </p:custDataLst>
          </p:nvPr>
        </p:nvSpPr>
        <p:spPr>
          <a:xfrm>
            <a:off x="4434840" y="1234440"/>
            <a:ext cx="3246120" cy="1948815"/>
          </a:xfrm>
          <a:prstGeom prst="roundRect">
            <a:avLst>
              <a:gd name="adj" fmla="val 8000"/>
            </a:avLst>
          </a:prstGeom>
          <a:solidFill>
            <a:srgbClr val="E2F5F2"/>
          </a:solidFill>
          <a:ln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9"/>
          <p:cNvSpPr txBox="1"/>
          <p:nvPr>
            <p:custDataLst>
              <p:tags r:id="rId5"/>
            </p:custDataLst>
          </p:nvPr>
        </p:nvSpPr>
        <p:spPr>
          <a:xfrm>
            <a:off x="4681728" y="1508760"/>
            <a:ext cx="2697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00928E"/>
                </a:solidFill>
                <a:latin typeface="微软雅黑" panose="020B0503020204020204" charset="-122"/>
              </a:rPr>
              <a:t>思路</a:t>
            </a:r>
            <a:endParaRPr sz="1500" b="1" i="0">
              <a:solidFill>
                <a:srgbClr val="00928E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0"/>
          <p:cNvSpPr txBox="1"/>
          <p:nvPr>
            <p:custDataLst>
              <p:tags r:id="rId6"/>
            </p:custDataLst>
          </p:nvPr>
        </p:nvSpPr>
        <p:spPr>
          <a:xfrm>
            <a:off x="4681855" y="1874520"/>
            <a:ext cx="2697480" cy="702945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使用远大于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 L2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的工作集，以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 warp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连续地址执行合并的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 grid-stride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访问；扫描线程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/block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配置，并比较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 scalar、float4 及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Read、Write、Copy、Mixed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四种负载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。</a:t>
            </a:r>
            <a:endParaRPr sz="110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11"/>
          <p:cNvSpPr/>
          <p:nvPr>
            <p:custDataLst>
              <p:tags r:id="rId7"/>
            </p:custDataLst>
          </p:nvPr>
        </p:nvSpPr>
        <p:spPr>
          <a:xfrm>
            <a:off x="8183880" y="1234440"/>
            <a:ext cx="3246120" cy="1948815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12"/>
          <p:cNvSpPr txBox="1"/>
          <p:nvPr>
            <p:custDataLst>
              <p:tags r:id="rId8"/>
            </p:custDataLst>
          </p:nvPr>
        </p:nvSpPr>
        <p:spPr>
          <a:xfrm>
            <a:off x="8430768" y="1508760"/>
            <a:ext cx="2697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E07E2D"/>
                </a:solidFill>
                <a:latin typeface="微软雅黑" panose="020B0503020204020204" charset="-122"/>
              </a:rPr>
              <a:t>结果</a:t>
            </a:r>
            <a:endParaRPr sz="1500" b="1" i="0">
              <a:solidFill>
                <a:srgbClr val="E07E2D"/>
              </a:solidFill>
              <a:latin typeface="微软雅黑" panose="020B0503020204020204" charset="-122"/>
            </a:endParaRPr>
          </a:p>
        </p:txBody>
      </p:sp>
      <p:sp>
        <p:nvSpPr>
          <p:cNvPr id="23" name="TextBox 13"/>
          <p:cNvSpPr txBox="1"/>
          <p:nvPr>
            <p:custDataLst>
              <p:tags r:id="rId9"/>
            </p:custDataLst>
          </p:nvPr>
        </p:nvSpPr>
        <p:spPr>
          <a:xfrm>
            <a:off x="8430768" y="1874519"/>
            <a:ext cx="2697480" cy="51090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dirty="0">
                <a:solidFill>
                  <a:srgbClr val="222D3A"/>
                </a:solidFill>
                <a:latin typeface="微软雅黑" panose="020B0503020204020204" charset="-122"/>
              </a:rPr>
              <a:t>L1 观察竞争边界；L2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</a:rPr>
              <a:t>比较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</a:rPr>
              <a:t> scalar 与 float4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</a:rPr>
              <a:t>的可达带宽</a:t>
            </a:r>
            <a:endParaRPr sz="130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pic>
        <p:nvPicPr>
          <p:cNvPr id="24" name="Picture 13" descr="scalar-test.png"/>
          <p:cNvPicPr>
            <a:picLocks noChangeAspect="1"/>
          </p:cNvPicPr>
          <p:nvPr/>
        </p:nvPicPr>
        <p:blipFill>
          <a:blip r:embed="rId10"/>
          <a:srcRect b="57000"/>
          <a:stretch>
            <a:fillRect/>
          </a:stretch>
        </p:blipFill>
        <p:spPr>
          <a:xfrm>
            <a:off x="763905" y="4312285"/>
            <a:ext cx="6318885" cy="1159510"/>
          </a:xfrm>
          <a:prstGeom prst="rect">
            <a:avLst/>
          </a:prstGeom>
        </p:spPr>
      </p:pic>
      <p:sp>
        <p:nvSpPr>
          <p:cNvPr id="25" name="TextBox 12"/>
          <p:cNvSpPr txBox="1"/>
          <p:nvPr/>
        </p:nvSpPr>
        <p:spPr>
          <a:xfrm>
            <a:off x="763905" y="3737102"/>
            <a:ext cx="649224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000" b="1">
                <a:solidFill>
                  <a:srgbClr val="143052"/>
                </a:solidFill>
                <a:latin typeface="微软雅黑" panose="020B0503020204020204" charset="-122"/>
              </a:rPr>
              <a:t>scalar 与 float4 结果接近</a:t>
            </a:r>
            <a:endParaRPr sz="2000" b="1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5"/>
          <p:cNvSpPr/>
          <p:nvPr/>
        </p:nvSpPr>
        <p:spPr>
          <a:xfrm>
            <a:off x="8135620" y="3804920"/>
            <a:ext cx="3340735" cy="2224405"/>
          </a:xfrm>
          <a:prstGeom prst="roundRect">
            <a:avLst>
              <a:gd name="adj" fmla="val 8000"/>
            </a:avLst>
          </a:prstGeom>
          <a:solidFill>
            <a:srgbClr val="E2F5F2"/>
          </a:solidFill>
          <a:ln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7"/>
          <p:cNvSpPr txBox="1"/>
          <p:nvPr/>
        </p:nvSpPr>
        <p:spPr>
          <a:xfrm>
            <a:off x="8347075" y="4121785"/>
            <a:ext cx="1517015" cy="6324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l"/>
            <a:r>
              <a:rPr b="1">
                <a:solidFill>
                  <a:srgbClr val="00928E"/>
                </a:solidFill>
                <a:latin typeface="微软雅黑" panose="020B0503020204020204" charset="-122"/>
                <a:sym typeface="+mn-ea"/>
              </a:rPr>
              <a:t>实测峰值</a:t>
            </a:r>
            <a:endParaRPr b="1" i="0">
              <a:solidFill>
                <a:srgbClr val="00928E"/>
              </a:solidFill>
              <a:latin typeface="微软雅黑" panose="020B0503020204020204" charset="-122"/>
            </a:endParaRPr>
          </a:p>
          <a:p>
            <a:pPr algn="l"/>
            <a:r>
              <a:rPr b="1" i="0">
                <a:solidFill>
                  <a:srgbClr val="00928E"/>
                </a:solidFill>
                <a:latin typeface="微软雅黑" panose="020B0503020204020204" charset="-122"/>
              </a:rPr>
              <a:t>9</a:t>
            </a:r>
            <a:r>
              <a:rPr lang="en-US" b="1" i="0">
                <a:solidFill>
                  <a:srgbClr val="00928E"/>
                </a:solidFill>
                <a:latin typeface="微软雅黑" panose="020B0503020204020204" charset="-122"/>
              </a:rPr>
              <a:t>10</a:t>
            </a:r>
            <a:r>
              <a:rPr b="1" i="0">
                <a:solidFill>
                  <a:srgbClr val="00928E"/>
                </a:solidFill>
                <a:latin typeface="微软雅黑" panose="020B0503020204020204" charset="-122"/>
              </a:rPr>
              <a:t>.</a:t>
            </a:r>
            <a:r>
              <a:rPr lang="en-US" b="1" i="0">
                <a:solidFill>
                  <a:srgbClr val="00928E"/>
                </a:solidFill>
                <a:latin typeface="微软雅黑" panose="020B0503020204020204" charset="-122"/>
              </a:rPr>
              <a:t>67 GB/s</a:t>
            </a:r>
            <a:endParaRPr lang="en-US" b="1" i="0">
              <a:solidFill>
                <a:srgbClr val="00928E"/>
              </a:solidFill>
              <a:latin typeface="微软雅黑" panose="020B0503020204020204" charset="-122"/>
            </a:endParaRPr>
          </a:p>
        </p:txBody>
      </p:sp>
      <p:cxnSp>
        <p:nvCxnSpPr>
          <p:cNvPr id="33" name="Connector 9"/>
          <p:cNvCxnSpPr/>
          <p:nvPr/>
        </p:nvCxnSpPr>
        <p:spPr>
          <a:xfrm>
            <a:off x="8319897" y="4908550"/>
            <a:ext cx="1470025" cy="0"/>
          </a:xfrm>
          <a:prstGeom prst="line">
            <a:avLst/>
          </a:prstGeom>
          <a:ln w="25400">
            <a:solidFill>
              <a:srgbClr val="009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0"/>
          <p:cNvSpPr txBox="1"/>
          <p:nvPr/>
        </p:nvSpPr>
        <p:spPr>
          <a:xfrm>
            <a:off x="8354060" y="5062855"/>
            <a:ext cx="1494155" cy="715645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l"/>
            <a:r>
              <a:rPr b="1" i="0">
                <a:solidFill>
                  <a:srgbClr val="143052"/>
                </a:solidFill>
                <a:latin typeface="微软雅黑" panose="020B0503020204020204" charset="-122"/>
              </a:rPr>
              <a:t>官方理论带宽
960 GB/s</a:t>
            </a:r>
            <a:endParaRPr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35" name="TextBox 11"/>
          <p:cNvSpPr txBox="1"/>
          <p:nvPr/>
        </p:nvSpPr>
        <p:spPr>
          <a:xfrm>
            <a:off x="10005060" y="4589145"/>
            <a:ext cx="1445260" cy="6527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l"/>
            <a:r>
              <a:rPr sz="2200" b="1" i="0">
                <a:solidFill>
                  <a:srgbClr val="E07E2D"/>
                </a:solidFill>
                <a:latin typeface="微软雅黑" panose="020B0503020204020204" charset="-122"/>
              </a:rPr>
              <a:t>达成率约 94.</a:t>
            </a:r>
            <a:r>
              <a:rPr lang="en-US" sz="2200" b="1" i="0">
                <a:solidFill>
                  <a:srgbClr val="E07E2D"/>
                </a:solidFill>
                <a:latin typeface="微软雅黑" panose="020B0503020204020204" charset="-122"/>
              </a:rPr>
              <a:t>9</a:t>
            </a:r>
            <a:r>
              <a:rPr sz="2200" b="1" i="0">
                <a:solidFill>
                  <a:srgbClr val="E07E2D"/>
                </a:solidFill>
                <a:latin typeface="微软雅黑" panose="020B0503020204020204" charset="-122"/>
              </a:rPr>
              <a:t>%</a:t>
            </a:r>
            <a:endParaRPr sz="2200" b="1" i="0">
              <a:solidFill>
                <a:srgbClr val="E07E2D"/>
              </a:solidFill>
              <a:latin typeface="微软雅黑" panose="020B0503020204020204" charset="-122"/>
            </a:endParaRPr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589135" y="6489192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cxnSp>
        <p:nvCxnSpPr>
          <p:cNvPr id="3" name="直接箭头连接符 2"/>
          <p:cNvCxnSpPr/>
          <p:nvPr/>
        </p:nvCxnSpPr>
        <p:spPr>
          <a:xfrm flipH="1">
            <a:off x="5147945" y="4956175"/>
            <a:ext cx="40957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7"/>
          <p:cNvSpPr/>
          <p:nvPr/>
        </p:nvSpPr>
        <p:spPr>
          <a:xfrm>
            <a:off x="763905" y="5589905"/>
            <a:ext cx="6318885" cy="788670"/>
          </a:xfrm>
          <a:prstGeom prst="roundRect">
            <a:avLst>
              <a:gd name="adj" fmla="val 8000"/>
            </a:avLst>
          </a:prstGeom>
          <a:solidFill>
            <a:srgbClr val="E5EFF8"/>
          </a:solidFill>
          <a:ln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8"/>
          <p:cNvSpPr txBox="1"/>
          <p:nvPr/>
        </p:nvSpPr>
        <p:spPr>
          <a:xfrm>
            <a:off x="978535" y="5740400"/>
            <a:ext cx="5941695" cy="5461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l"/>
            <a:r>
              <a:rPr lang="zh-CN" altLang="en-US" sz="1500" b="1" i="0" dirty="0">
                <a:solidFill>
                  <a:srgbClr val="143052"/>
                </a:solidFill>
                <a:latin typeface="微软雅黑" panose="020B0503020204020204" charset="-122"/>
              </a:rPr>
              <a:t>推测：单独读</a:t>
            </a:r>
            <a:r>
              <a:rPr lang="en-US" altLang="zh-CN" sz="1500" b="1" i="0" dirty="0">
                <a:solidFill>
                  <a:srgbClr val="143052"/>
                </a:solidFill>
                <a:latin typeface="微软雅黑" panose="020B0503020204020204" charset="-122"/>
              </a:rPr>
              <a:t>/</a:t>
            </a:r>
            <a:r>
              <a:rPr lang="zh-CN" altLang="en-US" sz="1500" b="1" i="0" dirty="0">
                <a:solidFill>
                  <a:srgbClr val="143052"/>
                </a:solidFill>
                <a:latin typeface="微软雅黑" panose="020B0503020204020204" charset="-122"/>
              </a:rPr>
              <a:t>写操作的带宽显著高于复合操作，可能是读写使用同一条数据链路，并引入了显著的切换控制</a:t>
            </a:r>
            <a:r>
              <a:rPr lang="zh-CN" altLang="en-US" sz="1500" b="1" i="0" dirty="0">
                <a:solidFill>
                  <a:srgbClr val="143052"/>
                </a:solidFill>
                <a:latin typeface="微软雅黑" panose="020B0503020204020204" charset="-122"/>
              </a:rPr>
              <a:t>开销。</a:t>
            </a:r>
            <a:endParaRPr lang="zh-CN" altLang="en-US" sz="1500" b="1" i="0" dirty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3052"/>
          </a:solidFill>
          <a:ln>
            <a:solidFill>
              <a:srgbClr val="14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43052"/>
                </a:solidFill>
                <a:latin typeface="微软雅黑" panose="020B0503020204020204" charset="-122"/>
              </a:rPr>
              <a:t>测试点三：L1/L2 缓存带宽</a:t>
            </a:r>
            <a:endParaRPr sz="25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47472"/>
            <a:ext cx="14173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677584"/>
                </a:solidFill>
                <a:latin typeface="微软雅黑" panose="020B0503020204020204" charset="-122"/>
              </a:rPr>
              <a:t>11</a:t>
            </a:r>
            <a:endParaRPr sz="900" b="0" i="0">
              <a:solidFill>
                <a:srgbClr val="677584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246120" cy="1958975"/>
          </a:xfrm>
          <a:prstGeom prst="roundRect">
            <a:avLst>
              <a:gd name="adj" fmla="val 8000"/>
            </a:avLst>
          </a:prstGeom>
          <a:solidFill>
            <a:srgbClr val="E5EFF8"/>
          </a:solidFill>
          <a:ln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08760"/>
            <a:ext cx="2697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43052"/>
                </a:solidFill>
                <a:latin typeface="微软雅黑" panose="020B0503020204020204" charset="-122"/>
              </a:rPr>
              <a:t>目标</a:t>
            </a:r>
            <a:endParaRPr sz="15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2688" y="1874519"/>
            <a:ext cx="2697480" cy="30924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i="0" dirty="0" err="1">
                <a:solidFill>
                  <a:srgbClr val="222D3A"/>
                </a:solidFill>
                <a:latin typeface="微软雅黑" panose="020B0503020204020204" charset="-122"/>
              </a:rPr>
              <a:t>测量片上</a:t>
            </a:r>
            <a:r>
              <a:rPr sz="1300" i="0" dirty="0">
                <a:solidFill>
                  <a:srgbClr val="222D3A"/>
                </a:solidFill>
                <a:latin typeface="微软雅黑" panose="020B0503020204020204" charset="-122"/>
              </a:rPr>
              <a:t> L1 / L2 </a:t>
            </a:r>
            <a:r>
              <a:rPr sz="1300" i="0" dirty="0" err="1">
                <a:solidFill>
                  <a:srgbClr val="222D3A"/>
                </a:solidFill>
                <a:latin typeface="微软雅黑" panose="020B0503020204020204" charset="-122"/>
              </a:rPr>
              <a:t>的可达带宽</a:t>
            </a:r>
            <a:endParaRPr sz="1300" i="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34840" y="1234440"/>
            <a:ext cx="3246120" cy="1940560"/>
          </a:xfrm>
          <a:prstGeom prst="roundRect">
            <a:avLst>
              <a:gd name="adj" fmla="val 8000"/>
            </a:avLst>
          </a:prstGeom>
          <a:solidFill>
            <a:srgbClr val="E2F5F2"/>
          </a:solidFill>
          <a:ln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508760"/>
            <a:ext cx="2697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00928E"/>
                </a:solidFill>
                <a:latin typeface="微软雅黑" panose="020B0503020204020204" charset="-122"/>
              </a:rPr>
              <a:t>思路</a:t>
            </a:r>
            <a:endParaRPr sz="1500" b="1" i="0">
              <a:solidFill>
                <a:srgbClr val="00928E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81728" y="1874519"/>
            <a:ext cx="2697480" cy="110934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dirty="0">
                <a:solidFill>
                  <a:srgbClr val="222D3A"/>
                </a:solidFill>
                <a:latin typeface="微软雅黑" panose="020B0503020204020204" charset="-122"/>
              </a:rPr>
              <a:t>L1：每个 block 访问独立小工作集；L2：所有 block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</a:rPr>
              <a:t>访问共享工作集并绕过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</a:rPr>
              <a:t> L1；扫描工作集、线程/block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</a:rPr>
              <a:t>配置，并比较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</a:rPr>
              <a:t> scalar 与 float4。</a:t>
            </a:r>
            <a:endParaRPr sz="130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83880" y="1234440"/>
            <a:ext cx="3246120" cy="1916430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1508760"/>
            <a:ext cx="2697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E07E2D"/>
                </a:solidFill>
                <a:latin typeface="微软雅黑" panose="020B0503020204020204" charset="-122"/>
              </a:rPr>
              <a:t>结果</a:t>
            </a:r>
            <a:endParaRPr sz="1500" b="1" i="0">
              <a:solidFill>
                <a:srgbClr val="E07E2D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30768" y="1874519"/>
            <a:ext cx="2697480" cy="5092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dirty="0">
                <a:solidFill>
                  <a:srgbClr val="222D3A"/>
                </a:solidFill>
                <a:latin typeface="微软雅黑" panose="020B0503020204020204" charset="-122"/>
              </a:rPr>
              <a:t>L1 观察竞争边界；L2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</a:rPr>
              <a:t>比较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</a:rPr>
              <a:t> scalar 与 float4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</a:rPr>
              <a:t>的可达带宽</a:t>
            </a:r>
            <a:endParaRPr sz="130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737360" y="4069080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9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4297680"/>
            <a:ext cx="13258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143052"/>
                </a:solidFill>
                <a:latin typeface="微软雅黑" panose="020B0503020204020204" charset="-122"/>
              </a:rPr>
              <a:t>SM</a:t>
            </a:r>
            <a:endParaRPr sz="15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>
            <a:endCxn id="19" idx="1"/>
          </p:cNvCxnSpPr>
          <p:nvPr/>
        </p:nvCxnSpPr>
        <p:spPr>
          <a:xfrm flipV="1">
            <a:off x="3090672" y="4457827"/>
            <a:ext cx="1024255" cy="4445"/>
          </a:xfrm>
          <a:prstGeom prst="line">
            <a:avLst/>
          </a:prstGeom>
          <a:ln w="25400">
            <a:solidFill>
              <a:srgbClr val="0092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14800" y="4069080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9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4297680"/>
            <a:ext cx="13258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143052"/>
                </a:solidFill>
                <a:latin typeface="微软雅黑" panose="020B0503020204020204" charset="-122"/>
              </a:rPr>
              <a:t>L1
.ca</a:t>
            </a:r>
            <a:endParaRPr sz="15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cxnSp>
        <p:nvCxnSpPr>
          <p:cNvPr id="20" name="Connector 19"/>
          <p:cNvCxnSpPr>
            <a:endCxn id="22" idx="1"/>
          </p:cNvCxnSpPr>
          <p:nvPr/>
        </p:nvCxnSpPr>
        <p:spPr>
          <a:xfrm flipV="1">
            <a:off x="5468112" y="4457827"/>
            <a:ext cx="1024255" cy="4445"/>
          </a:xfrm>
          <a:prstGeom prst="line">
            <a:avLst/>
          </a:prstGeom>
          <a:ln w="25400">
            <a:solidFill>
              <a:srgbClr val="0092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92240" y="4069080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9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297680"/>
            <a:ext cx="13258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143052"/>
                </a:solidFill>
                <a:latin typeface="微软雅黑" panose="020B0503020204020204" charset="-122"/>
              </a:rPr>
              <a:t>L2
.cg</a:t>
            </a:r>
            <a:endParaRPr sz="15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0120" y="5349240"/>
            <a:ext cx="6760210" cy="33972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00928E"/>
                </a:solidFill>
                <a:latin typeface="微软雅黑" panose="020B0503020204020204" charset="-122"/>
              </a:rPr>
              <a:t>通过独立/共享数据区和不同工作集规模，将访问压力分别集中到 L1 与 L2。</a:t>
            </a:r>
            <a:endParaRPr sz="1500" b="1">
              <a:solidFill>
                <a:srgbClr val="00928E"/>
              </a:solidFill>
              <a:latin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589135" y="6489192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3052"/>
          </a:solidFill>
          <a:ln>
            <a:solidFill>
              <a:srgbClr val="14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9339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500" b="1">
                <a:solidFill>
                  <a:srgbClr val="143052"/>
                </a:solidFill>
                <a:latin typeface="微软雅黑" panose="020B0503020204020204" charset="-122"/>
              </a:rPr>
              <a:t>测试点三：L1/L2 缓存带宽｜L1 </a:t>
            </a:r>
            <a:endParaRPr lang="zh-CN" sz="2500" b="1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47472"/>
            <a:ext cx="14173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677584"/>
                </a:solidFill>
                <a:latin typeface="微软雅黑" panose="020B0503020204020204" charset="-122"/>
              </a:rPr>
              <a:t>12</a:t>
            </a:r>
            <a:endParaRPr sz="900" b="0" i="0">
              <a:solidFill>
                <a:srgbClr val="677584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/>
          <p:nvPr/>
        </p:nvPicPr>
        <p:blipFill>
          <a:blip r:embed="rId1"/>
          <a:stretch>
            <a:fillRect/>
          </a:stretch>
        </p:blipFill>
        <p:spPr>
          <a:xfrm>
            <a:off x="772160" y="1479550"/>
            <a:ext cx="5017135" cy="3251200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2"/>
          <a:stretch>
            <a:fillRect/>
          </a:stretch>
        </p:blipFill>
        <p:spPr>
          <a:xfrm>
            <a:off x="6019165" y="1483360"/>
            <a:ext cx="5273675" cy="3246120"/>
          </a:xfrm>
          <a:prstGeom prst="rect">
            <a:avLst/>
          </a:prstGeom>
        </p:spPr>
      </p:pic>
      <p:sp>
        <p:nvSpPr>
          <p:cNvPr id="23" name="TextBox 8"/>
          <p:cNvSpPr txBox="1"/>
          <p:nvPr/>
        </p:nvSpPr>
        <p:spPr>
          <a:xfrm>
            <a:off x="2383155" y="1160780"/>
            <a:ext cx="2375535" cy="31877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 indent="0">
              <a:spcAft>
                <a:spcPts val="800"/>
              </a:spcAft>
              <a:buNone/>
              <a:defRPr sz="1600">
                <a:solidFill>
                  <a:srgbClr val="222D3A"/>
                </a:solidFill>
                <a:latin typeface="微软雅黑" panose="020B0503020204020204" charset="-122"/>
              </a:defRPr>
            </a:pPr>
            <a:r>
              <a:rPr lang="en-US" b="1"/>
              <a:t>Scalar Float</a:t>
            </a:r>
            <a:endParaRPr lang="en-US" b="1"/>
          </a:p>
        </p:txBody>
      </p:sp>
      <p:sp>
        <p:nvSpPr>
          <p:cNvPr id="18" name="TextBox 8"/>
          <p:cNvSpPr txBox="1"/>
          <p:nvPr/>
        </p:nvSpPr>
        <p:spPr>
          <a:xfrm>
            <a:off x="7919720" y="1164590"/>
            <a:ext cx="2375535" cy="31877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 indent="0">
              <a:spcAft>
                <a:spcPts val="800"/>
              </a:spcAft>
              <a:buNone/>
              <a:defRPr sz="1600">
                <a:solidFill>
                  <a:srgbClr val="222D3A"/>
                </a:solidFill>
                <a:latin typeface="微软雅黑" panose="020B0503020204020204" charset="-122"/>
              </a:defRPr>
            </a:pPr>
            <a:r>
              <a:rPr lang="en-US" b="1"/>
              <a:t>Vector Float4</a:t>
            </a:r>
            <a:endParaRPr lang="en-US" b="1"/>
          </a:p>
        </p:txBody>
      </p:sp>
      <p:sp>
        <p:nvSpPr>
          <p:cNvPr id="19" name="Rounded Rectangle 7"/>
          <p:cNvSpPr/>
          <p:nvPr/>
        </p:nvSpPr>
        <p:spPr>
          <a:xfrm>
            <a:off x="868680" y="5029200"/>
            <a:ext cx="10424160" cy="1002030"/>
          </a:xfrm>
          <a:prstGeom prst="roundRect">
            <a:avLst>
              <a:gd name="adj" fmla="val 8000"/>
            </a:avLst>
          </a:prstGeom>
          <a:solidFill>
            <a:srgbClr val="E5EFF8"/>
          </a:solidFill>
          <a:ln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8"/>
          <p:cNvSpPr txBox="1"/>
          <p:nvPr/>
        </p:nvSpPr>
        <p:spPr>
          <a:xfrm>
            <a:off x="1143000" y="5360670"/>
            <a:ext cx="9875520" cy="445135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l"/>
            <a:r>
              <a:rPr lang="en-US" sz="1500" b="1" i="0" dirty="0">
                <a:solidFill>
                  <a:srgbClr val="143052"/>
                </a:solidFill>
                <a:latin typeface="微软雅黑" panose="020B0503020204020204" charset="-122"/>
              </a:rPr>
              <a:t>L1 </a:t>
            </a:r>
            <a:r>
              <a:rPr lang="zh-CN" altLang="en-US" sz="1500" b="1" i="0" dirty="0">
                <a:solidFill>
                  <a:srgbClr val="143052"/>
                </a:solidFill>
                <a:latin typeface="微软雅黑" panose="020B0503020204020204" charset="-122"/>
              </a:rPr>
              <a:t>在</a:t>
            </a:r>
            <a:r>
              <a:rPr lang="en-US" altLang="zh-CN" sz="1500" b="1" i="0" dirty="0">
                <a:solidFill>
                  <a:srgbClr val="143052"/>
                </a:solidFill>
                <a:latin typeface="微软雅黑" panose="020B0503020204020204" charset="-122"/>
              </a:rPr>
              <a:t> scalar float </a:t>
            </a:r>
            <a:r>
              <a:rPr lang="zh-CN" altLang="en-US" sz="1500" b="1" i="0" dirty="0">
                <a:solidFill>
                  <a:srgbClr val="143052"/>
                </a:solidFill>
                <a:latin typeface="微软雅黑" panose="020B0503020204020204" charset="-122"/>
              </a:rPr>
              <a:t>负载下实际</a:t>
            </a:r>
            <a:r>
              <a:rPr lang="zh-CN" altLang="en-US" sz="1500" b="1" i="0" dirty="0">
                <a:solidFill>
                  <a:srgbClr val="143052"/>
                </a:solidFill>
                <a:latin typeface="微软雅黑" panose="020B0503020204020204" charset="-122"/>
              </a:rPr>
              <a:t>聚合带宽为</a:t>
            </a:r>
            <a:r>
              <a:rPr lang="en-US" altLang="zh-CN" sz="1500" b="1" i="0" dirty="0">
                <a:solidFill>
                  <a:srgbClr val="143052"/>
                </a:solidFill>
                <a:latin typeface="微软雅黑" panose="020B0503020204020204" charset="-122"/>
              </a:rPr>
              <a:t> 6609.88 GB/s</a:t>
            </a:r>
            <a:r>
              <a:rPr lang="zh-CN" altLang="en-US" sz="1500" b="1" i="0" dirty="0">
                <a:solidFill>
                  <a:srgbClr val="143052"/>
                </a:solidFill>
                <a:latin typeface="微软雅黑" panose="020B0503020204020204" charset="-122"/>
              </a:rPr>
              <a:t>；</a:t>
            </a:r>
            <a:r>
              <a:rPr lang="en-US" altLang="zh-CN" sz="1500" b="1" i="0" dirty="0">
                <a:solidFill>
                  <a:srgbClr val="143052"/>
                </a:solidFill>
                <a:latin typeface="微软雅黑" panose="020B0503020204020204" charset="-122"/>
              </a:rPr>
              <a:t>vector float4 </a:t>
            </a:r>
            <a:r>
              <a:rPr lang="zh-CN" altLang="en-US" sz="1500" b="1" i="0" dirty="0">
                <a:solidFill>
                  <a:srgbClr val="143052"/>
                </a:solidFill>
                <a:latin typeface="微软雅黑" panose="020B0503020204020204" charset="-122"/>
              </a:rPr>
              <a:t>负载下实际</a:t>
            </a:r>
            <a:r>
              <a:rPr lang="zh-CN" altLang="en-US" sz="1500" b="1" dirty="0">
                <a:solidFill>
                  <a:srgbClr val="143052"/>
                </a:solidFill>
                <a:latin typeface="微软雅黑" panose="020B0503020204020204" charset="-122"/>
                <a:sym typeface="+mn-ea"/>
              </a:rPr>
              <a:t>聚合</a:t>
            </a:r>
            <a:r>
              <a:rPr lang="zh-CN" altLang="en-US" sz="1500" b="1" i="0" dirty="0">
                <a:solidFill>
                  <a:srgbClr val="143052"/>
                </a:solidFill>
                <a:latin typeface="微软雅黑" panose="020B0503020204020204" charset="-122"/>
              </a:rPr>
              <a:t>带宽为</a:t>
            </a:r>
            <a:r>
              <a:rPr lang="en-US" altLang="zh-CN" sz="1500" b="1" i="0" dirty="0">
                <a:solidFill>
                  <a:srgbClr val="143052"/>
                </a:solidFill>
                <a:latin typeface="微软雅黑" panose="020B0503020204020204" charset="-122"/>
              </a:rPr>
              <a:t> 16444.94 GB/s</a:t>
            </a:r>
            <a:endParaRPr lang="en-US" altLang="zh-CN" sz="1500" b="1" i="0" dirty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589135" y="6489192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cxnSp>
        <p:nvCxnSpPr>
          <p:cNvPr id="3" name="直接箭头连接符 2"/>
          <p:cNvCxnSpPr/>
          <p:nvPr/>
        </p:nvCxnSpPr>
        <p:spPr>
          <a:xfrm flipH="1">
            <a:off x="2242820" y="2660650"/>
            <a:ext cx="40957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1">
            <a:off x="7919720" y="2974975"/>
            <a:ext cx="40957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3052"/>
          </a:solidFill>
          <a:ln>
            <a:solidFill>
              <a:srgbClr val="14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9339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500" b="1">
                <a:solidFill>
                  <a:srgbClr val="143052"/>
                </a:solidFill>
                <a:latin typeface="微软雅黑" panose="020B0503020204020204" charset="-122"/>
              </a:rPr>
              <a:t>测试点三：L1/L2 缓存带宽｜L2 </a:t>
            </a:r>
            <a:endParaRPr sz="2500" b="1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47472"/>
            <a:ext cx="14173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677584"/>
                </a:solidFill>
                <a:latin typeface="微软雅黑" panose="020B0503020204020204" charset="-122"/>
              </a:rPr>
              <a:t>13</a:t>
            </a:r>
            <a:endParaRPr sz="900" b="0" i="0">
              <a:solidFill>
                <a:srgbClr val="677584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/>
          <p:nvPr/>
        </p:nvPicPr>
        <p:blipFill>
          <a:blip r:embed="rId1"/>
          <a:srcRect r="53236"/>
          <a:stretch>
            <a:fillRect/>
          </a:stretch>
        </p:blipFill>
        <p:spPr>
          <a:xfrm>
            <a:off x="1143000" y="1395095"/>
            <a:ext cx="4535805" cy="3477260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2"/>
          <a:srcRect r="31319"/>
          <a:stretch>
            <a:fillRect/>
          </a:stretch>
        </p:blipFill>
        <p:spPr>
          <a:xfrm>
            <a:off x="6347460" y="1395730"/>
            <a:ext cx="4716780" cy="3483610"/>
          </a:xfrm>
          <a:prstGeom prst="rect">
            <a:avLst/>
          </a:prstGeom>
        </p:spPr>
      </p:pic>
      <p:sp>
        <p:nvSpPr>
          <p:cNvPr id="23" name="TextBox 8"/>
          <p:cNvSpPr txBox="1"/>
          <p:nvPr/>
        </p:nvSpPr>
        <p:spPr>
          <a:xfrm>
            <a:off x="2726690" y="1111885"/>
            <a:ext cx="2375535" cy="31877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 indent="0">
              <a:spcAft>
                <a:spcPts val="800"/>
              </a:spcAft>
              <a:buNone/>
              <a:defRPr sz="1600">
                <a:solidFill>
                  <a:srgbClr val="222D3A"/>
                </a:solidFill>
                <a:latin typeface="微软雅黑" panose="020B0503020204020204" charset="-122"/>
              </a:defRPr>
            </a:pPr>
            <a:r>
              <a:rPr lang="en-US" b="1"/>
              <a:t>Scalar Float</a:t>
            </a:r>
            <a:endParaRPr lang="en-US" b="1"/>
          </a:p>
        </p:txBody>
      </p:sp>
      <p:sp>
        <p:nvSpPr>
          <p:cNvPr id="18" name="TextBox 8"/>
          <p:cNvSpPr txBox="1"/>
          <p:nvPr/>
        </p:nvSpPr>
        <p:spPr>
          <a:xfrm>
            <a:off x="7919720" y="1096010"/>
            <a:ext cx="2375535" cy="31877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 indent="0">
              <a:spcAft>
                <a:spcPts val="800"/>
              </a:spcAft>
              <a:buNone/>
              <a:defRPr sz="1600">
                <a:solidFill>
                  <a:srgbClr val="222D3A"/>
                </a:solidFill>
                <a:latin typeface="微软雅黑" panose="020B0503020204020204" charset="-122"/>
              </a:defRPr>
            </a:pPr>
            <a:r>
              <a:rPr lang="en-US" b="1"/>
              <a:t>Vector Float4</a:t>
            </a:r>
            <a:endParaRPr lang="en-US" b="1"/>
          </a:p>
        </p:txBody>
      </p:sp>
      <p:sp>
        <p:nvSpPr>
          <p:cNvPr id="19" name="Rounded Rectangle 7"/>
          <p:cNvSpPr/>
          <p:nvPr/>
        </p:nvSpPr>
        <p:spPr>
          <a:xfrm>
            <a:off x="868680" y="5029200"/>
            <a:ext cx="10424160" cy="1002030"/>
          </a:xfrm>
          <a:prstGeom prst="roundRect">
            <a:avLst>
              <a:gd name="adj" fmla="val 8000"/>
            </a:avLst>
          </a:prstGeom>
          <a:solidFill>
            <a:srgbClr val="E5EFF8"/>
          </a:solidFill>
          <a:ln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8"/>
          <p:cNvSpPr txBox="1"/>
          <p:nvPr/>
        </p:nvSpPr>
        <p:spPr>
          <a:xfrm>
            <a:off x="1143000" y="5360670"/>
            <a:ext cx="9875520" cy="445135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l"/>
            <a:r>
              <a:rPr lang="en-US" sz="1500" b="1" i="0">
                <a:solidFill>
                  <a:srgbClr val="143052"/>
                </a:solidFill>
                <a:latin typeface="微软雅黑" panose="020B0503020204020204" charset="-122"/>
              </a:rPr>
              <a:t>L2 </a:t>
            </a:r>
            <a:r>
              <a:rPr lang="zh-CN" altLang="en-US" sz="1500" b="1" i="0">
                <a:solidFill>
                  <a:srgbClr val="143052"/>
                </a:solidFill>
                <a:latin typeface="微软雅黑" panose="020B0503020204020204" charset="-122"/>
              </a:rPr>
              <a:t>在</a:t>
            </a:r>
            <a:r>
              <a:rPr lang="en-US" altLang="zh-CN" sz="1500" b="1" i="0">
                <a:solidFill>
                  <a:srgbClr val="143052"/>
                </a:solidFill>
                <a:latin typeface="微软雅黑" panose="020B0503020204020204" charset="-122"/>
              </a:rPr>
              <a:t> scalar float </a:t>
            </a:r>
            <a:r>
              <a:rPr lang="zh-CN" altLang="en-US" sz="1500" b="1" i="0">
                <a:solidFill>
                  <a:srgbClr val="143052"/>
                </a:solidFill>
                <a:latin typeface="微软雅黑" panose="020B0503020204020204" charset="-122"/>
              </a:rPr>
              <a:t>负载下实际聚合带宽为</a:t>
            </a:r>
            <a:r>
              <a:rPr lang="en-US" altLang="zh-CN" sz="1500" b="1" i="0">
                <a:solidFill>
                  <a:srgbClr val="143052"/>
                </a:solidFill>
                <a:latin typeface="微软雅黑" panose="020B0503020204020204" charset="-122"/>
              </a:rPr>
              <a:t> 3609.79 GB/s</a:t>
            </a:r>
            <a:r>
              <a:rPr lang="zh-CN" altLang="en-US" sz="1500" b="1" i="0">
                <a:solidFill>
                  <a:srgbClr val="143052"/>
                </a:solidFill>
                <a:latin typeface="微软雅黑" panose="020B0503020204020204" charset="-122"/>
              </a:rPr>
              <a:t>；</a:t>
            </a:r>
            <a:r>
              <a:rPr lang="en-US" altLang="zh-CN" sz="1500" b="1" i="0">
                <a:solidFill>
                  <a:srgbClr val="143052"/>
                </a:solidFill>
                <a:latin typeface="微软雅黑" panose="020B0503020204020204" charset="-122"/>
              </a:rPr>
              <a:t>vector float4 </a:t>
            </a:r>
            <a:r>
              <a:rPr lang="zh-CN" altLang="en-US" sz="1500" b="1" i="0">
                <a:solidFill>
                  <a:srgbClr val="143052"/>
                </a:solidFill>
                <a:latin typeface="微软雅黑" panose="020B0503020204020204" charset="-122"/>
              </a:rPr>
              <a:t>负载下实际聚合带宽为</a:t>
            </a:r>
            <a:r>
              <a:rPr lang="en-US" altLang="zh-CN" sz="1500" b="1" i="0">
                <a:solidFill>
                  <a:srgbClr val="143052"/>
                </a:solidFill>
                <a:latin typeface="微软雅黑" panose="020B0503020204020204" charset="-122"/>
              </a:rPr>
              <a:t> 4875.02 GB/s</a:t>
            </a:r>
            <a:endParaRPr lang="en-US" altLang="zh-CN" sz="15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589135" y="6489192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cxnSp>
        <p:nvCxnSpPr>
          <p:cNvPr id="3" name="直接箭头连接符 2"/>
          <p:cNvCxnSpPr/>
          <p:nvPr/>
        </p:nvCxnSpPr>
        <p:spPr>
          <a:xfrm flipH="1">
            <a:off x="2576195" y="2744470"/>
            <a:ext cx="40957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1">
            <a:off x="8043545" y="3133725"/>
            <a:ext cx="40957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3052"/>
          </a:solidFill>
          <a:ln>
            <a:solidFill>
              <a:srgbClr val="14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43052"/>
                </a:solidFill>
                <a:latin typeface="微软雅黑" panose="020B0503020204020204" charset="-122"/>
              </a:rPr>
              <a:t>测试点四：识别 L2 有效容量</a:t>
            </a:r>
            <a:endParaRPr sz="25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47472"/>
            <a:ext cx="14173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677584"/>
                </a:solidFill>
                <a:latin typeface="微软雅黑" panose="020B0503020204020204" charset="-122"/>
              </a:rPr>
              <a:t>14</a:t>
            </a:r>
            <a:endParaRPr sz="900" b="0" i="0">
              <a:solidFill>
                <a:srgbClr val="677584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685800" y="123444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E5EFF8"/>
          </a:solidFill>
          <a:ln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932688" y="1536192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43052"/>
                </a:solidFill>
                <a:latin typeface="微软雅黑" panose="020B0503020204020204" charset="-122"/>
              </a:rPr>
              <a:t>目标</a:t>
            </a:r>
            <a:endParaRPr sz="15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932688" y="1938528"/>
            <a:ext cx="2697480" cy="5092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i="0" dirty="0" err="1">
                <a:solidFill>
                  <a:srgbClr val="222D3A"/>
                </a:solidFill>
                <a:latin typeface="微软雅黑" panose="020B0503020204020204" charset="-122"/>
              </a:rPr>
              <a:t>识别</a:t>
            </a:r>
            <a:r>
              <a:rPr sz="1300" i="0" dirty="0">
                <a:solidFill>
                  <a:srgbClr val="222D3A"/>
                </a:solidFill>
                <a:latin typeface="微软雅黑" panose="020B0503020204020204" charset="-122"/>
              </a:rPr>
              <a:t> L2 </a:t>
            </a:r>
            <a:r>
              <a:rPr sz="1300" i="0" dirty="0" err="1">
                <a:solidFill>
                  <a:srgbClr val="222D3A"/>
                </a:solidFill>
                <a:latin typeface="微软雅黑" panose="020B0503020204020204" charset="-122"/>
              </a:rPr>
              <a:t>命中平台到</a:t>
            </a:r>
            <a:r>
              <a:rPr sz="1300" i="0" dirty="0">
                <a:solidFill>
                  <a:srgbClr val="222D3A"/>
                </a:solidFill>
                <a:latin typeface="微软雅黑" panose="020B0503020204020204" charset="-122"/>
              </a:rPr>
              <a:t> DRAM </a:t>
            </a:r>
            <a:r>
              <a:rPr sz="1300" i="0" dirty="0" err="1">
                <a:solidFill>
                  <a:srgbClr val="222D3A"/>
                </a:solidFill>
                <a:latin typeface="微软雅黑" panose="020B0503020204020204" charset="-122"/>
              </a:rPr>
              <a:t>平台的转折</a:t>
            </a:r>
            <a:endParaRPr sz="1300" i="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4"/>
            </p:custDataLst>
          </p:nvPr>
        </p:nvSpPr>
        <p:spPr>
          <a:xfrm>
            <a:off x="4434840" y="123444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E2F5F2"/>
          </a:solidFill>
          <a:ln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4681728" y="1536192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00928E"/>
                </a:solidFill>
                <a:latin typeface="微软雅黑" panose="020B0503020204020204" charset="-122"/>
              </a:rPr>
              <a:t>思路</a:t>
            </a:r>
            <a:endParaRPr sz="1500" b="1" i="0">
              <a:solidFill>
                <a:srgbClr val="00928E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4681728" y="1938528"/>
            <a:ext cx="2697480" cy="909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</a:rPr>
              <a:t>在单个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</a:rPr>
              <a:t> SM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</a:rPr>
              <a:t>上执行随机依赖地址链，并持续增大工作集；通过低延迟平台向高延迟平台的跃迁识别容量边界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</a:rPr>
              <a:t>。</a:t>
            </a:r>
            <a:endParaRPr sz="130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8183879" y="123444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8430768" y="1536192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E07E2D"/>
                </a:solidFill>
                <a:latin typeface="微软雅黑" panose="020B0503020204020204" charset="-122"/>
              </a:rPr>
              <a:t>结果</a:t>
            </a:r>
            <a:endParaRPr sz="1500" b="1" i="0">
              <a:solidFill>
                <a:srgbClr val="E07E2D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8430768" y="1938528"/>
            <a:ext cx="2697480" cy="5092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</a:rPr>
              <a:t>曲线在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</a:rPr>
              <a:t> 64 MiB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</a:rPr>
              <a:t>附近由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</a:rPr>
              <a:t> L2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</a:rPr>
              <a:t>命中平台转入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</a:rPr>
              <a:t> DRAM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</a:rPr>
              <a:t>高延迟平台</a:t>
            </a:r>
            <a:endParaRPr sz="130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58025" y="3897630"/>
            <a:ext cx="4920615" cy="9779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l"/>
            <a:r>
              <a:rPr b="1" i="0">
                <a:solidFill>
                  <a:srgbClr val="143052"/>
                </a:solidFill>
                <a:latin typeface="微软雅黑" panose="020B0503020204020204" charset="-122"/>
              </a:rPr>
              <a:t>核心信号：
低延迟平台 → 过渡区 → 高延迟平台</a:t>
            </a:r>
            <a:endParaRPr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25055" y="4805680"/>
            <a:ext cx="3824605" cy="35496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00928E"/>
                </a:solidFill>
                <a:latin typeface="微软雅黑" panose="020B0503020204020204" charset="-122"/>
              </a:rPr>
              <a:t>实验转折与官方 L2 容量</a:t>
            </a:r>
            <a:r>
              <a:rPr lang="en-US" sz="1600" b="1" i="0">
                <a:solidFill>
                  <a:srgbClr val="00928E"/>
                </a:solidFill>
                <a:latin typeface="微软雅黑" panose="020B0503020204020204" charset="-122"/>
              </a:rPr>
              <a:t> 64 MiB </a:t>
            </a:r>
            <a:r>
              <a:rPr sz="1600" b="1" i="0">
                <a:solidFill>
                  <a:srgbClr val="00928E"/>
                </a:solidFill>
                <a:latin typeface="微软雅黑" panose="020B0503020204020204" charset="-122"/>
              </a:rPr>
              <a:t>一致。</a:t>
            </a:r>
            <a:endParaRPr sz="1600" b="1" i="0">
              <a:solidFill>
                <a:srgbClr val="00928E"/>
              </a:solidFill>
              <a:latin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0352" y="6519672"/>
            <a:ext cx="6894703" cy="22415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750" b="0" i="0">
                <a:solidFill>
                  <a:srgbClr val="677584"/>
                </a:solidFill>
                <a:latin typeface="微软雅黑" panose="020B0503020204020204" charset="-122"/>
              </a:rPr>
              <a:t>官方容量：NVIDIA Whitepaper 第 51 页</a:t>
            </a:r>
            <a:endParaRPr sz="750" b="0" i="0">
              <a:solidFill>
                <a:srgbClr val="677584"/>
              </a:solidFill>
              <a:latin typeface="微软雅黑" panose="020B0503020204020204" charset="-122"/>
            </a:endParaRPr>
          </a:p>
        </p:txBody>
      </p:sp>
      <p:pic>
        <p:nvPicPr>
          <p:cNvPr id="21" name="图片 20" descr="l2_latency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9515" y="3155315"/>
            <a:ext cx="5511800" cy="3089910"/>
          </a:xfrm>
          <a:prstGeom prst="rect">
            <a:avLst/>
          </a:prstGeom>
        </p:spPr>
      </p:pic>
      <p:sp>
        <p:nvSpPr>
          <p:cNvPr id="15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589135" y="6489192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cxnSp>
        <p:nvCxnSpPr>
          <p:cNvPr id="3" name="直接箭头连接符 2"/>
          <p:cNvCxnSpPr/>
          <p:nvPr/>
        </p:nvCxnSpPr>
        <p:spPr>
          <a:xfrm flipH="1">
            <a:off x="3328670" y="5514975"/>
            <a:ext cx="40957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2388870" y="5661025"/>
            <a:ext cx="0" cy="3200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V="1">
            <a:off x="5087620" y="3429000"/>
            <a:ext cx="0" cy="3200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3676015" y="5330825"/>
            <a:ext cx="10458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转折点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615180" y="3743960"/>
            <a:ext cx="10458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DRAM 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171700" y="5981065"/>
            <a:ext cx="740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L2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3052"/>
          </a:solidFill>
          <a:ln>
            <a:solidFill>
              <a:srgbClr val="14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500" b="1">
                <a:solidFill>
                  <a:srgbClr val="143052"/>
                </a:solidFill>
                <a:latin typeface="微软雅黑" panose="020B0503020204020204" charset="-122"/>
              </a:rPr>
              <a:t>测试点五：L2 缓存行占用与预取提示</a:t>
            </a:r>
            <a:endParaRPr sz="2500" b="1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47472"/>
            <a:ext cx="14173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677584"/>
                </a:solidFill>
                <a:latin typeface="微软雅黑" panose="020B0503020204020204" charset="-122"/>
              </a:rPr>
              <a:t>15</a:t>
            </a:r>
            <a:endParaRPr sz="900" b="0" i="0">
              <a:solidFill>
                <a:srgbClr val="677584"/>
              </a:solidFill>
              <a:latin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图片 7" descr="l2_latenc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550" y="3459480"/>
            <a:ext cx="5887085" cy="2094865"/>
          </a:xfrm>
          <a:prstGeom prst="rect">
            <a:avLst/>
          </a:prstGeom>
        </p:spPr>
      </p:pic>
      <p:pic>
        <p:nvPicPr>
          <p:cNvPr id="10" name="图片 9" descr="l2_latency"/>
          <p:cNvPicPr>
            <a:picLocks noChangeAspect="1"/>
          </p:cNvPicPr>
          <p:nvPr/>
        </p:nvPicPr>
        <p:blipFill>
          <a:blip r:embed="rId2"/>
          <a:srcRect l="4485" t="72173" r="34849" b="6511"/>
          <a:stretch>
            <a:fillRect/>
          </a:stretch>
        </p:blipFill>
        <p:spPr>
          <a:xfrm>
            <a:off x="6276975" y="3523615"/>
            <a:ext cx="5271770" cy="2097405"/>
          </a:xfrm>
          <a:prstGeom prst="rect">
            <a:avLst/>
          </a:prstGeom>
        </p:spPr>
      </p:pic>
      <p:sp>
        <p:nvSpPr>
          <p:cNvPr id="11" name="TextBox 8"/>
          <p:cNvSpPr txBox="1"/>
          <p:nvPr/>
        </p:nvSpPr>
        <p:spPr>
          <a:xfrm>
            <a:off x="2611755" y="3204845"/>
            <a:ext cx="2375535" cy="31877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 indent="0">
              <a:spcAft>
                <a:spcPts val="800"/>
              </a:spcAft>
              <a:buNone/>
              <a:defRPr sz="1600">
                <a:solidFill>
                  <a:srgbClr val="222D3A"/>
                </a:solidFill>
                <a:latin typeface="微软雅黑" panose="020B0503020204020204" charset="-122"/>
              </a:defRPr>
            </a:pPr>
            <a:r>
              <a:rPr lang="zh-CN" altLang="en-US" b="1"/>
              <a:t>固定预取提示，改变步长</a:t>
            </a:r>
            <a:endParaRPr lang="zh-CN" altLang="en-US" b="1"/>
          </a:p>
        </p:txBody>
      </p:sp>
      <p:sp>
        <p:nvSpPr>
          <p:cNvPr id="12" name="TextBox 8"/>
          <p:cNvSpPr txBox="1"/>
          <p:nvPr/>
        </p:nvSpPr>
        <p:spPr>
          <a:xfrm>
            <a:off x="7980045" y="3204845"/>
            <a:ext cx="2375535" cy="31877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 indent="0">
              <a:spcAft>
                <a:spcPts val="800"/>
              </a:spcAft>
              <a:buNone/>
              <a:defRPr sz="1600">
                <a:solidFill>
                  <a:srgbClr val="222D3A"/>
                </a:solidFill>
                <a:latin typeface="微软雅黑" panose="020B0503020204020204" charset="-122"/>
              </a:defRPr>
            </a:pPr>
            <a:r>
              <a:rPr lang="zh-CN" altLang="en-US" b="1"/>
              <a:t>固定步长，改变预取提示</a:t>
            </a:r>
            <a:endParaRPr lang="zh-CN" altLang="en-US" b="1"/>
          </a:p>
        </p:txBody>
      </p:sp>
      <p:sp>
        <p:nvSpPr>
          <p:cNvPr id="13" name="Rounded Rectangle 5"/>
          <p:cNvSpPr/>
          <p:nvPr>
            <p:custDataLst>
              <p:tags r:id="rId3"/>
            </p:custDataLst>
          </p:nvPr>
        </p:nvSpPr>
        <p:spPr>
          <a:xfrm>
            <a:off x="685800" y="123444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E5EFF8"/>
          </a:solidFill>
          <a:ln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6"/>
          <p:cNvSpPr txBox="1"/>
          <p:nvPr>
            <p:custDataLst>
              <p:tags r:id="rId4"/>
            </p:custDataLst>
          </p:nvPr>
        </p:nvSpPr>
        <p:spPr>
          <a:xfrm>
            <a:off x="932688" y="1536192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43052"/>
                </a:solidFill>
                <a:latin typeface="微软雅黑" panose="020B0503020204020204" charset="-122"/>
              </a:rPr>
              <a:t>目标</a:t>
            </a:r>
            <a:endParaRPr sz="15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27" name="TextBox 7"/>
          <p:cNvSpPr txBox="1"/>
          <p:nvPr>
            <p:custDataLst>
              <p:tags r:id="rId5"/>
            </p:custDataLst>
          </p:nvPr>
        </p:nvSpPr>
        <p:spPr>
          <a:xfrm>
            <a:off x="932688" y="1938528"/>
            <a:ext cx="2697480" cy="70929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判断容量由地址跨度、实际缓存行数还是预取提示决定</a:t>
            </a:r>
            <a:endParaRPr sz="1300" dirty="0">
              <a:solidFill>
                <a:srgbClr val="222D3A"/>
              </a:solidFill>
              <a:latin typeface="微软雅黑" panose="020B0503020204020204" charset="-122"/>
            </a:endParaRPr>
          </a:p>
          <a:p>
            <a:pPr algn="l"/>
            <a:endParaRPr sz="1300" i="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8"/>
          <p:cNvSpPr/>
          <p:nvPr>
            <p:custDataLst>
              <p:tags r:id="rId6"/>
            </p:custDataLst>
          </p:nvPr>
        </p:nvSpPr>
        <p:spPr>
          <a:xfrm>
            <a:off x="4434840" y="123444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E2F5F2"/>
          </a:solidFill>
          <a:ln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9"/>
          <p:cNvSpPr txBox="1"/>
          <p:nvPr>
            <p:custDataLst>
              <p:tags r:id="rId7"/>
            </p:custDataLst>
          </p:nvPr>
        </p:nvSpPr>
        <p:spPr>
          <a:xfrm>
            <a:off x="4681728" y="1536192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00928E"/>
                </a:solidFill>
                <a:latin typeface="微软雅黑" panose="020B0503020204020204" charset="-122"/>
              </a:rPr>
              <a:t>思路</a:t>
            </a:r>
            <a:endParaRPr sz="1500" b="1" i="0">
              <a:solidFill>
                <a:srgbClr val="00928E"/>
              </a:solidFill>
              <a:latin typeface="微软雅黑" panose="020B0503020204020204" charset="-122"/>
            </a:endParaRPr>
          </a:p>
        </p:txBody>
      </p:sp>
      <p:sp>
        <p:nvSpPr>
          <p:cNvPr id="30" name="TextBox 10"/>
          <p:cNvSpPr txBox="1"/>
          <p:nvPr>
            <p:custDataLst>
              <p:tags r:id="rId8"/>
            </p:custDataLst>
          </p:nvPr>
        </p:nvSpPr>
        <p:spPr>
          <a:xfrm>
            <a:off x="4681728" y="1938528"/>
            <a:ext cx="2697480" cy="70929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改变步长与工作集，使配置覆盖相同数量的唯一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 128 B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缓存行；比较不同预取提示</a:t>
            </a:r>
            <a:endParaRPr sz="130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11"/>
          <p:cNvSpPr/>
          <p:nvPr>
            <p:custDataLst>
              <p:tags r:id="rId9"/>
            </p:custDataLst>
          </p:nvPr>
        </p:nvSpPr>
        <p:spPr>
          <a:xfrm>
            <a:off x="8183879" y="123444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12"/>
          <p:cNvSpPr txBox="1"/>
          <p:nvPr>
            <p:custDataLst>
              <p:tags r:id="rId10"/>
            </p:custDataLst>
          </p:nvPr>
        </p:nvSpPr>
        <p:spPr>
          <a:xfrm>
            <a:off x="8430768" y="1536192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E07E2D"/>
                </a:solidFill>
                <a:latin typeface="微软雅黑" panose="020B0503020204020204" charset="-122"/>
              </a:rPr>
              <a:t>结果</a:t>
            </a:r>
            <a:endParaRPr sz="1500" b="1" i="0">
              <a:solidFill>
                <a:srgbClr val="E07E2D"/>
              </a:solidFill>
              <a:latin typeface="微软雅黑" panose="020B0503020204020204" charset="-122"/>
            </a:endParaRPr>
          </a:p>
        </p:txBody>
      </p:sp>
      <p:sp>
        <p:nvSpPr>
          <p:cNvPr id="33" name="TextBox 13"/>
          <p:cNvSpPr txBox="1"/>
          <p:nvPr>
            <p:custDataLst>
              <p:tags r:id="rId11"/>
            </p:custDataLst>
          </p:nvPr>
        </p:nvSpPr>
        <p:spPr>
          <a:xfrm>
            <a:off x="8430768" y="1938528"/>
            <a:ext cx="2697480" cy="5092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容量边界随实际缓存行数缩放；预取提示未造成明显偏移</a:t>
            </a:r>
            <a:endParaRPr sz="130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589135" y="6489192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3052"/>
          </a:solidFill>
          <a:ln>
            <a:solidFill>
              <a:srgbClr val="14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500" b="1">
                <a:solidFill>
                  <a:srgbClr val="143052"/>
                </a:solidFill>
                <a:latin typeface="微软雅黑" panose="020B0503020204020204" charset="-122"/>
              </a:rPr>
              <a:t>测试点六：Persisting L2 保留能力</a:t>
            </a:r>
            <a:endParaRPr sz="2500" b="1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47472"/>
            <a:ext cx="14173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677584"/>
                </a:solidFill>
                <a:latin typeface="微软雅黑" panose="020B0503020204020204" charset="-122"/>
              </a:rPr>
              <a:t>16</a:t>
            </a:r>
            <a:endParaRPr sz="900" b="0" i="0">
              <a:solidFill>
                <a:srgbClr val="677584"/>
              </a:solidFill>
              <a:latin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l2_reten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815" y="3429635"/>
            <a:ext cx="5033645" cy="2821940"/>
          </a:xfrm>
          <a:prstGeom prst="rect">
            <a:avLst/>
          </a:prstGeom>
        </p:spPr>
      </p:pic>
      <p:pic>
        <p:nvPicPr>
          <p:cNvPr id="22" name="图片 21" descr="l2_reten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415" y="3427730"/>
            <a:ext cx="4105275" cy="2925445"/>
          </a:xfrm>
          <a:prstGeom prst="rect">
            <a:avLst/>
          </a:prstGeom>
        </p:spPr>
      </p:pic>
      <p:sp>
        <p:nvSpPr>
          <p:cNvPr id="23" name="Rounded Rectangle 5"/>
          <p:cNvSpPr/>
          <p:nvPr>
            <p:custDataLst>
              <p:tags r:id="rId3"/>
            </p:custDataLst>
          </p:nvPr>
        </p:nvSpPr>
        <p:spPr>
          <a:xfrm>
            <a:off x="685800" y="123444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E5EFF8"/>
          </a:solidFill>
          <a:ln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6"/>
          <p:cNvSpPr txBox="1"/>
          <p:nvPr>
            <p:custDataLst>
              <p:tags r:id="rId4"/>
            </p:custDataLst>
          </p:nvPr>
        </p:nvSpPr>
        <p:spPr>
          <a:xfrm>
            <a:off x="932688" y="1536192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43052"/>
                </a:solidFill>
                <a:latin typeface="微软雅黑" panose="020B0503020204020204" charset="-122"/>
              </a:rPr>
              <a:t>目标</a:t>
            </a:r>
            <a:endParaRPr sz="15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27" name="TextBox 7"/>
          <p:cNvSpPr txBox="1"/>
          <p:nvPr>
            <p:custDataLst>
              <p:tags r:id="rId5"/>
            </p:custDataLst>
          </p:nvPr>
        </p:nvSpPr>
        <p:spPr>
          <a:xfrm>
            <a:off x="932688" y="1938528"/>
            <a:ext cx="2697480" cy="5092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验证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 Persisting L2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能否保护热点数据</a:t>
            </a:r>
            <a:endParaRPr sz="1300" i="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8"/>
          <p:cNvSpPr/>
          <p:nvPr>
            <p:custDataLst>
              <p:tags r:id="rId6"/>
            </p:custDataLst>
          </p:nvPr>
        </p:nvSpPr>
        <p:spPr>
          <a:xfrm>
            <a:off x="4434840" y="123444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E2F5F2"/>
          </a:solidFill>
          <a:ln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9"/>
          <p:cNvSpPr txBox="1"/>
          <p:nvPr>
            <p:custDataLst>
              <p:tags r:id="rId7"/>
            </p:custDataLst>
          </p:nvPr>
        </p:nvSpPr>
        <p:spPr>
          <a:xfrm>
            <a:off x="4681728" y="1536192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00928E"/>
                </a:solidFill>
                <a:latin typeface="微软雅黑" panose="020B0503020204020204" charset="-122"/>
              </a:rPr>
              <a:t>思路</a:t>
            </a:r>
            <a:endParaRPr sz="1500" b="1" i="0">
              <a:solidFill>
                <a:srgbClr val="00928E"/>
              </a:solidFill>
              <a:latin typeface="微软雅黑" panose="020B0503020204020204" charset="-122"/>
            </a:endParaRPr>
          </a:p>
        </p:txBody>
      </p:sp>
      <p:sp>
        <p:nvSpPr>
          <p:cNvPr id="30" name="TextBox 10"/>
          <p:cNvSpPr txBox="1"/>
          <p:nvPr>
            <p:custDataLst>
              <p:tags r:id="rId8"/>
            </p:custDataLst>
          </p:nvPr>
        </p:nvSpPr>
        <p:spPr>
          <a:xfrm>
            <a:off x="4681728" y="1938528"/>
            <a:ext cx="2697480" cy="70929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将热集标记为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persisting，再用冷流冲刷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 L2；分别扫描冷流强度和热集规模</a:t>
            </a:r>
            <a:endParaRPr sz="130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11"/>
          <p:cNvSpPr/>
          <p:nvPr>
            <p:custDataLst>
              <p:tags r:id="rId9"/>
            </p:custDataLst>
          </p:nvPr>
        </p:nvSpPr>
        <p:spPr>
          <a:xfrm>
            <a:off x="8183879" y="123444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12"/>
          <p:cNvSpPr txBox="1"/>
          <p:nvPr>
            <p:custDataLst>
              <p:tags r:id="rId10"/>
            </p:custDataLst>
          </p:nvPr>
        </p:nvSpPr>
        <p:spPr>
          <a:xfrm>
            <a:off x="8430768" y="1536192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E07E2D"/>
                </a:solidFill>
                <a:latin typeface="微软雅黑" panose="020B0503020204020204" charset="-122"/>
              </a:rPr>
              <a:t>结果</a:t>
            </a:r>
            <a:endParaRPr sz="1500" b="1" i="0">
              <a:solidFill>
                <a:srgbClr val="E07E2D"/>
              </a:solidFill>
              <a:latin typeface="微软雅黑" panose="020B0503020204020204" charset="-122"/>
            </a:endParaRPr>
          </a:p>
        </p:txBody>
      </p:sp>
      <p:sp>
        <p:nvSpPr>
          <p:cNvPr id="33" name="TextBox 13"/>
          <p:cNvSpPr txBox="1"/>
          <p:nvPr>
            <p:custDataLst>
              <p:tags r:id="rId11"/>
            </p:custDataLst>
          </p:nvPr>
        </p:nvSpPr>
        <p:spPr>
          <a:xfrm>
            <a:off x="8430768" y="1938528"/>
            <a:ext cx="2697480" cy="5092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预留容量内热集保持低延迟；超过容量后保护效果消失</a:t>
            </a:r>
            <a:endParaRPr sz="130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24" name="TextBox 8"/>
          <p:cNvSpPr txBox="1"/>
          <p:nvPr/>
        </p:nvSpPr>
        <p:spPr>
          <a:xfrm>
            <a:off x="2251075" y="3138170"/>
            <a:ext cx="2850515" cy="31877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 indent="0">
              <a:spcAft>
                <a:spcPts val="800"/>
              </a:spcAft>
              <a:buNone/>
              <a:defRPr sz="1600">
                <a:solidFill>
                  <a:srgbClr val="222D3A"/>
                </a:solidFill>
                <a:latin typeface="微软雅黑" panose="020B0503020204020204" charset="-122"/>
              </a:defRPr>
            </a:pPr>
            <a:r>
              <a:rPr lang="zh-CN" altLang="en-US" b="1"/>
              <a:t>固定热集大小，改变冷流强度</a:t>
            </a:r>
            <a:endParaRPr lang="zh-CN" altLang="en-US" b="1"/>
          </a:p>
        </p:txBody>
      </p:sp>
      <p:sp>
        <p:nvSpPr>
          <p:cNvPr id="25" name="TextBox 8"/>
          <p:cNvSpPr txBox="1"/>
          <p:nvPr/>
        </p:nvSpPr>
        <p:spPr>
          <a:xfrm>
            <a:off x="7419975" y="3132455"/>
            <a:ext cx="2821305" cy="31877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 indent="0">
              <a:spcAft>
                <a:spcPts val="800"/>
              </a:spcAft>
              <a:buNone/>
              <a:defRPr sz="1600">
                <a:solidFill>
                  <a:srgbClr val="222D3A"/>
                </a:solidFill>
                <a:latin typeface="微软雅黑" panose="020B0503020204020204" charset="-122"/>
              </a:defRPr>
            </a:pPr>
            <a:r>
              <a:rPr lang="zh-CN" altLang="en-US" b="1"/>
              <a:t>固定冷流强度，改变热集大小</a:t>
            </a:r>
            <a:endParaRPr lang="zh-CN" altLang="en-US" b="1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589135" y="6489192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cxnSp>
        <p:nvCxnSpPr>
          <p:cNvPr id="3" name="直接箭头连接符 2"/>
          <p:cNvCxnSpPr/>
          <p:nvPr/>
        </p:nvCxnSpPr>
        <p:spPr>
          <a:xfrm flipH="1">
            <a:off x="7995920" y="5820410"/>
            <a:ext cx="434975" cy="50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8368665" y="5443220"/>
            <a:ext cx="21043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最大可配置</a:t>
            </a:r>
            <a:r>
              <a:rPr lang="en-US" altLang="zh-CN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Pesisting L2 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en-US" altLang="zh-CN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32 MiB</a:t>
            </a:r>
            <a:endParaRPr lang="en-US" altLang="zh-CN" sz="1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3052"/>
          </a:solidFill>
          <a:ln>
            <a:solidFill>
              <a:srgbClr val="14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500" b="1">
                <a:solidFill>
                  <a:srgbClr val="143052"/>
                </a:solidFill>
                <a:latin typeface="微软雅黑" panose="020B0503020204020204" charset="-122"/>
              </a:rPr>
              <a:t>测试点七：SM–L2 非均匀访问延迟</a:t>
            </a:r>
            <a:endParaRPr sz="2500" b="1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47472"/>
            <a:ext cx="14173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677584"/>
                </a:solidFill>
                <a:latin typeface="微软雅黑" panose="020B0503020204020204" charset="-122"/>
              </a:rPr>
              <a:t>17</a:t>
            </a:r>
            <a:endParaRPr sz="900" b="0" i="0">
              <a:solidFill>
                <a:srgbClr val="677584"/>
              </a:solidFill>
              <a:latin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topology_per_s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3353435"/>
            <a:ext cx="7294880" cy="2646680"/>
          </a:xfrm>
          <a:prstGeom prst="rect">
            <a:avLst/>
          </a:prstGeom>
        </p:spPr>
      </p:pic>
      <p:sp>
        <p:nvSpPr>
          <p:cNvPr id="23" name="Rounded Rectangle 5"/>
          <p:cNvSpPr/>
          <p:nvPr>
            <p:custDataLst>
              <p:tags r:id="rId2"/>
            </p:custDataLst>
          </p:nvPr>
        </p:nvSpPr>
        <p:spPr>
          <a:xfrm>
            <a:off x="685800" y="123444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E5EFF8"/>
          </a:solidFill>
          <a:ln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6"/>
          <p:cNvSpPr txBox="1"/>
          <p:nvPr>
            <p:custDataLst>
              <p:tags r:id="rId3"/>
            </p:custDataLst>
          </p:nvPr>
        </p:nvSpPr>
        <p:spPr>
          <a:xfrm>
            <a:off x="932688" y="1536192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43052"/>
                </a:solidFill>
                <a:latin typeface="微软雅黑" panose="020B0503020204020204" charset="-122"/>
              </a:rPr>
              <a:t>目标</a:t>
            </a:r>
            <a:endParaRPr sz="15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27" name="TextBox 7"/>
          <p:cNvSpPr txBox="1"/>
          <p:nvPr>
            <p:custDataLst>
              <p:tags r:id="rId4"/>
            </p:custDataLst>
          </p:nvPr>
        </p:nvSpPr>
        <p:spPr>
          <a:xfrm>
            <a:off x="932688" y="1938528"/>
            <a:ext cx="2697480" cy="5092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判断不同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 SM 到 L2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的访问延迟是否一致</a:t>
            </a:r>
            <a:endParaRPr sz="1300" i="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8"/>
          <p:cNvSpPr/>
          <p:nvPr>
            <p:custDataLst>
              <p:tags r:id="rId5"/>
            </p:custDataLst>
          </p:nvPr>
        </p:nvSpPr>
        <p:spPr>
          <a:xfrm>
            <a:off x="4434840" y="123444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E2F5F2"/>
          </a:solidFill>
          <a:ln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9"/>
          <p:cNvSpPr txBox="1"/>
          <p:nvPr>
            <p:custDataLst>
              <p:tags r:id="rId6"/>
            </p:custDataLst>
          </p:nvPr>
        </p:nvSpPr>
        <p:spPr>
          <a:xfrm>
            <a:off x="4681728" y="1536192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00928E"/>
                </a:solidFill>
                <a:latin typeface="微软雅黑" panose="020B0503020204020204" charset="-122"/>
              </a:rPr>
              <a:t>思路</a:t>
            </a:r>
            <a:endParaRPr sz="1500" b="1" i="0">
              <a:solidFill>
                <a:srgbClr val="00928E"/>
              </a:solidFill>
              <a:latin typeface="微软雅黑" panose="020B0503020204020204" charset="-122"/>
            </a:endParaRPr>
          </a:p>
        </p:txBody>
      </p:sp>
      <p:sp>
        <p:nvSpPr>
          <p:cNvPr id="30" name="TextBox 10"/>
          <p:cNvSpPr txBox="1"/>
          <p:nvPr>
            <p:custDataLst>
              <p:tags r:id="rId7"/>
            </p:custDataLst>
          </p:nvPr>
        </p:nvSpPr>
        <p:spPr>
          <a:xfrm>
            <a:off x="4681728" y="1938528"/>
            <a:ext cx="2697480" cy="70929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让各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 SM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依次访问同一组地址探针；串行化访问并构建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 SM ×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地址延迟矩阵</a:t>
            </a:r>
            <a:endParaRPr sz="130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11"/>
          <p:cNvSpPr/>
          <p:nvPr>
            <p:custDataLst>
              <p:tags r:id="rId8"/>
            </p:custDataLst>
          </p:nvPr>
        </p:nvSpPr>
        <p:spPr>
          <a:xfrm>
            <a:off x="8183879" y="123444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12"/>
          <p:cNvSpPr txBox="1"/>
          <p:nvPr>
            <p:custDataLst>
              <p:tags r:id="rId9"/>
            </p:custDataLst>
          </p:nvPr>
        </p:nvSpPr>
        <p:spPr>
          <a:xfrm>
            <a:off x="8430768" y="1536192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E07E2D"/>
                </a:solidFill>
                <a:latin typeface="微软雅黑" panose="020B0503020204020204" charset="-122"/>
              </a:rPr>
              <a:t>结果</a:t>
            </a:r>
            <a:endParaRPr sz="1500" b="1" i="0">
              <a:solidFill>
                <a:srgbClr val="E07E2D"/>
              </a:solidFill>
              <a:latin typeface="微软雅黑" panose="020B0503020204020204" charset="-122"/>
            </a:endParaRPr>
          </a:p>
        </p:txBody>
      </p:sp>
      <p:sp>
        <p:nvSpPr>
          <p:cNvPr id="33" name="TextBox 13"/>
          <p:cNvSpPr txBox="1"/>
          <p:nvPr>
            <p:custDataLst>
              <p:tags r:id="rId10"/>
            </p:custDataLst>
          </p:nvPr>
        </p:nvSpPr>
        <p:spPr>
          <a:xfrm>
            <a:off x="8430768" y="1938528"/>
            <a:ext cx="2697480" cy="5092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存在稳定的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 SM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相关差异，并呈现前后半区相似轮廓</a:t>
            </a:r>
            <a:endParaRPr sz="130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24" name="TextBox 16"/>
          <p:cNvSpPr txBox="1"/>
          <p:nvPr/>
        </p:nvSpPr>
        <p:spPr>
          <a:xfrm>
            <a:off x="8538845" y="3986530"/>
            <a:ext cx="2673985" cy="11506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l"/>
            <a:r>
              <a:rPr lang="zh-CN" altLang="en-US" sz="1600" b="1" i="0">
                <a:solidFill>
                  <a:srgbClr val="00928E"/>
                </a:solidFill>
                <a:latin typeface="微软雅黑" panose="020B0503020204020204" charset="-122"/>
              </a:rPr>
              <a:t>前</a:t>
            </a:r>
            <a:r>
              <a:rPr lang="en-US" altLang="zh-CN" sz="1600" b="1" i="0">
                <a:solidFill>
                  <a:srgbClr val="00928E"/>
                </a:solidFill>
                <a:latin typeface="微软雅黑" panose="020B0503020204020204" charset="-122"/>
              </a:rPr>
              <a:t> </a:t>
            </a:r>
            <a:r>
              <a:rPr lang="zh-CN" altLang="en-US" sz="1600" b="1" i="0">
                <a:solidFill>
                  <a:srgbClr val="00928E"/>
                </a:solidFill>
                <a:latin typeface="微软雅黑" panose="020B0503020204020204" charset="-122"/>
              </a:rPr>
              <a:t>42</a:t>
            </a:r>
            <a:r>
              <a:rPr lang="en-US" altLang="zh-CN" sz="1600" b="1" i="0">
                <a:solidFill>
                  <a:srgbClr val="00928E"/>
                </a:solidFill>
                <a:latin typeface="微软雅黑" panose="020B0503020204020204" charset="-122"/>
              </a:rPr>
              <a:t> </a:t>
            </a:r>
            <a:r>
              <a:rPr lang="zh-CN" altLang="en-US" sz="1600" b="1" i="0">
                <a:solidFill>
                  <a:srgbClr val="00928E"/>
                </a:solidFill>
                <a:latin typeface="微软雅黑" panose="020B0503020204020204" charset="-122"/>
              </a:rPr>
              <a:t>个</a:t>
            </a:r>
            <a:r>
              <a:rPr lang="en-US" altLang="zh-CN" sz="1600" b="1" i="0">
                <a:solidFill>
                  <a:srgbClr val="00928E"/>
                </a:solidFill>
                <a:latin typeface="微软雅黑" panose="020B0503020204020204" charset="-122"/>
              </a:rPr>
              <a:t> SM </a:t>
            </a:r>
            <a:r>
              <a:rPr lang="zh-CN" altLang="en-US" sz="1600" b="1" i="0">
                <a:solidFill>
                  <a:srgbClr val="00928E"/>
                </a:solidFill>
                <a:latin typeface="微软雅黑" panose="020B0503020204020204" charset="-122"/>
              </a:rPr>
              <a:t>与后</a:t>
            </a:r>
            <a:r>
              <a:rPr lang="en-US" altLang="zh-CN" sz="1600" b="1" i="0">
                <a:solidFill>
                  <a:srgbClr val="00928E"/>
                </a:solidFill>
                <a:latin typeface="微软雅黑" panose="020B0503020204020204" charset="-122"/>
              </a:rPr>
              <a:t> </a:t>
            </a:r>
            <a:r>
              <a:rPr lang="zh-CN" altLang="en-US" sz="1600" b="1" i="0">
                <a:solidFill>
                  <a:srgbClr val="00928E"/>
                </a:solidFill>
                <a:latin typeface="微软雅黑" panose="020B0503020204020204" charset="-122"/>
              </a:rPr>
              <a:t>42</a:t>
            </a:r>
            <a:r>
              <a:rPr lang="en-US" altLang="zh-CN" sz="1600" b="1" i="0">
                <a:solidFill>
                  <a:srgbClr val="00928E"/>
                </a:solidFill>
                <a:latin typeface="微软雅黑" panose="020B0503020204020204" charset="-122"/>
              </a:rPr>
              <a:t> </a:t>
            </a:r>
            <a:r>
              <a:rPr lang="zh-CN" altLang="en-US" sz="1600" b="1" i="0">
                <a:solidFill>
                  <a:srgbClr val="00928E"/>
                </a:solidFill>
                <a:latin typeface="微软雅黑" panose="020B0503020204020204" charset="-122"/>
              </a:rPr>
              <a:t>个</a:t>
            </a:r>
            <a:r>
              <a:rPr lang="en-US" altLang="zh-CN" sz="1600" b="1" i="0">
                <a:solidFill>
                  <a:srgbClr val="00928E"/>
                </a:solidFill>
                <a:latin typeface="微软雅黑" panose="020B0503020204020204" charset="-122"/>
              </a:rPr>
              <a:t> SM </a:t>
            </a:r>
            <a:r>
              <a:rPr lang="zh-CN" altLang="en-US" sz="1600" b="1" i="0">
                <a:solidFill>
                  <a:srgbClr val="00928E"/>
                </a:solidFill>
                <a:latin typeface="微软雅黑" panose="020B0503020204020204" charset="-122"/>
              </a:rPr>
              <a:t>的延迟曲线</a:t>
            </a:r>
            <a:r>
              <a:rPr lang="en-US" altLang="zh-CN" sz="1600" b="1" i="0">
                <a:solidFill>
                  <a:srgbClr val="00928E"/>
                </a:solidFill>
                <a:latin typeface="微软雅黑" panose="020B0503020204020204" charset="-122"/>
              </a:rPr>
              <a:t> Pearson </a:t>
            </a:r>
            <a:r>
              <a:rPr lang="zh-CN" altLang="en-US" sz="1600" b="1" i="0">
                <a:solidFill>
                  <a:srgbClr val="00928E"/>
                </a:solidFill>
                <a:latin typeface="微软雅黑" panose="020B0503020204020204" charset="-122"/>
              </a:rPr>
              <a:t>相关系数达</a:t>
            </a:r>
            <a:r>
              <a:rPr lang="en-US" altLang="zh-CN" sz="1600" b="1" i="0">
                <a:solidFill>
                  <a:srgbClr val="00928E"/>
                </a:solidFill>
                <a:latin typeface="微软雅黑" panose="020B0503020204020204" charset="-122"/>
              </a:rPr>
              <a:t> </a:t>
            </a:r>
            <a:r>
              <a:rPr lang="zh-CN" altLang="en-US" sz="1600" b="1" i="0">
                <a:solidFill>
                  <a:srgbClr val="00928E"/>
                </a:solidFill>
                <a:latin typeface="微软雅黑" panose="020B0503020204020204" charset="-122"/>
              </a:rPr>
              <a:t>0.999，表明二者几乎完全线性相关。</a:t>
            </a:r>
            <a:endParaRPr lang="zh-CN" altLang="en-US" sz="1600" b="1" i="0">
              <a:solidFill>
                <a:srgbClr val="00928E"/>
              </a:solidFill>
              <a:latin typeface="微软雅黑" panose="020B0503020204020204" charset="-122"/>
            </a:endParaRPr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589135" y="6489192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3052"/>
          </a:solidFill>
          <a:ln>
            <a:solidFill>
              <a:srgbClr val="14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500" b="1">
                <a:solidFill>
                  <a:srgbClr val="143052"/>
                </a:solidFill>
                <a:latin typeface="微软雅黑" panose="020B0503020204020204" charset="-122"/>
              </a:rPr>
              <a:t>测试点八：L2 地址映射与候选拓扑</a:t>
            </a:r>
            <a:endParaRPr sz="2500" b="1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47472"/>
            <a:ext cx="14173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677584"/>
                </a:solidFill>
                <a:latin typeface="微软雅黑" panose="020B0503020204020204" charset="-122"/>
              </a:rPr>
              <a:t>18</a:t>
            </a:r>
            <a:endParaRPr sz="900" b="0" i="0">
              <a:solidFill>
                <a:srgbClr val="677584"/>
              </a:solidFill>
              <a:latin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图片 31" descr="topology_model"/>
          <p:cNvPicPr>
            <a:picLocks noChangeAspect="1"/>
          </p:cNvPicPr>
          <p:nvPr/>
        </p:nvPicPr>
        <p:blipFill>
          <a:blip r:embed="rId1"/>
          <a:srcRect r="48897"/>
          <a:stretch>
            <a:fillRect/>
          </a:stretch>
        </p:blipFill>
        <p:spPr>
          <a:xfrm>
            <a:off x="4314825" y="3382645"/>
            <a:ext cx="3647440" cy="2588895"/>
          </a:xfrm>
          <a:prstGeom prst="rect">
            <a:avLst/>
          </a:prstGeom>
        </p:spPr>
      </p:pic>
      <p:sp>
        <p:nvSpPr>
          <p:cNvPr id="33" name="Rounded Rectangle 5"/>
          <p:cNvSpPr/>
          <p:nvPr>
            <p:custDataLst>
              <p:tags r:id="rId2"/>
            </p:custDataLst>
          </p:nvPr>
        </p:nvSpPr>
        <p:spPr>
          <a:xfrm>
            <a:off x="685800" y="123444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E5EFF8"/>
          </a:solidFill>
          <a:ln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6"/>
          <p:cNvSpPr txBox="1"/>
          <p:nvPr>
            <p:custDataLst>
              <p:tags r:id="rId3"/>
            </p:custDataLst>
          </p:nvPr>
        </p:nvSpPr>
        <p:spPr>
          <a:xfrm>
            <a:off x="932688" y="1536192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43052"/>
                </a:solidFill>
                <a:latin typeface="微软雅黑" panose="020B0503020204020204" charset="-122"/>
              </a:rPr>
              <a:t>目标</a:t>
            </a:r>
            <a:endParaRPr sz="15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35" name="TextBox 7"/>
          <p:cNvSpPr txBox="1"/>
          <p:nvPr>
            <p:custDataLst>
              <p:tags r:id="rId4"/>
            </p:custDataLst>
          </p:nvPr>
        </p:nvSpPr>
        <p:spPr>
          <a:xfrm>
            <a:off x="932688" y="1938528"/>
            <a:ext cx="2697480" cy="5092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分离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SM、地址与候选拓扑对延迟的影响</a:t>
            </a:r>
            <a:endParaRPr sz="1300" i="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8"/>
          <p:cNvSpPr/>
          <p:nvPr>
            <p:custDataLst>
              <p:tags r:id="rId5"/>
            </p:custDataLst>
          </p:nvPr>
        </p:nvSpPr>
        <p:spPr>
          <a:xfrm>
            <a:off x="4434840" y="123444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E2F5F2"/>
          </a:solidFill>
          <a:ln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9"/>
          <p:cNvSpPr txBox="1"/>
          <p:nvPr>
            <p:custDataLst>
              <p:tags r:id="rId6"/>
            </p:custDataLst>
          </p:nvPr>
        </p:nvSpPr>
        <p:spPr>
          <a:xfrm>
            <a:off x="4681728" y="1536192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00928E"/>
                </a:solidFill>
                <a:latin typeface="微软雅黑" panose="020B0503020204020204" charset="-122"/>
              </a:rPr>
              <a:t>思路</a:t>
            </a:r>
            <a:endParaRPr sz="1500" b="1" i="0">
              <a:solidFill>
                <a:srgbClr val="00928E"/>
              </a:solidFill>
              <a:latin typeface="微软雅黑" panose="020B0503020204020204" charset="-122"/>
            </a:endParaRPr>
          </a:p>
        </p:txBody>
      </p:sp>
      <p:sp>
        <p:nvSpPr>
          <p:cNvPr id="38" name="TextBox 10"/>
          <p:cNvSpPr txBox="1"/>
          <p:nvPr>
            <p:custDataLst>
              <p:tags r:id="rId7"/>
            </p:custDataLst>
          </p:nvPr>
        </p:nvSpPr>
        <p:spPr>
          <a:xfrm>
            <a:off x="4681728" y="1938528"/>
            <a:ext cx="2697480" cy="5092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进行加性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 NUCA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分解、TPC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/GPC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相似性聚类</a:t>
            </a:r>
            <a:endParaRPr sz="130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11"/>
          <p:cNvSpPr/>
          <p:nvPr>
            <p:custDataLst>
              <p:tags r:id="rId8"/>
            </p:custDataLst>
          </p:nvPr>
        </p:nvSpPr>
        <p:spPr>
          <a:xfrm>
            <a:off x="8183879" y="123444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12"/>
          <p:cNvSpPr txBox="1"/>
          <p:nvPr>
            <p:custDataLst>
              <p:tags r:id="rId9"/>
            </p:custDataLst>
          </p:nvPr>
        </p:nvSpPr>
        <p:spPr>
          <a:xfrm>
            <a:off x="8430768" y="1536192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E07E2D"/>
                </a:solidFill>
                <a:latin typeface="微软雅黑" panose="020B0503020204020204" charset="-122"/>
              </a:rPr>
              <a:t>结果</a:t>
            </a:r>
            <a:endParaRPr sz="1500" b="1" i="0">
              <a:solidFill>
                <a:srgbClr val="E07E2D"/>
              </a:solidFill>
              <a:latin typeface="微软雅黑" panose="020B0503020204020204" charset="-122"/>
            </a:endParaRPr>
          </a:p>
        </p:txBody>
      </p:sp>
      <p:sp>
        <p:nvSpPr>
          <p:cNvPr id="41" name="TextBox 13"/>
          <p:cNvSpPr txBox="1"/>
          <p:nvPr>
            <p:custDataLst>
              <p:tags r:id="rId10"/>
            </p:custDataLst>
          </p:nvPr>
        </p:nvSpPr>
        <p:spPr>
          <a:xfrm>
            <a:off x="8430768" y="1938528"/>
            <a:ext cx="2697480" cy="30924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R²=0.9973；候选分组分离明显</a:t>
            </a:r>
            <a:endParaRPr sz="130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30540" y="3954145"/>
            <a:ext cx="3043555" cy="375285"/>
          </a:xfrm>
          <a:prstGeom prst="rect">
            <a:avLst/>
          </a:prstGeom>
        </p:spPr>
      </p:pic>
      <p:sp>
        <p:nvSpPr>
          <p:cNvPr id="44" name="TextBox 8"/>
          <p:cNvSpPr txBox="1"/>
          <p:nvPr/>
        </p:nvSpPr>
        <p:spPr>
          <a:xfrm>
            <a:off x="8430895" y="3702685"/>
            <a:ext cx="2375535" cy="257175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 indent="0">
              <a:spcAft>
                <a:spcPts val="800"/>
              </a:spcAft>
              <a:buNone/>
              <a:defRPr sz="1600">
                <a:solidFill>
                  <a:srgbClr val="222D3A"/>
                </a:solidFill>
                <a:latin typeface="微软雅黑" panose="020B0503020204020204" charset="-122"/>
              </a:defRPr>
            </a:pPr>
            <a:r>
              <a:rPr lang="zh-CN" altLang="en-US" sz="1200" b="1"/>
              <a:t>定义加性非均匀缓存访问模型</a:t>
            </a:r>
            <a:endParaRPr lang="zh-CN" altLang="en-US" sz="12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16"/>
              <p:cNvSpPr txBox="1"/>
              <p:nvPr/>
            </p:nvSpPr>
            <p:spPr>
              <a:xfrm>
                <a:off x="8183880" y="4403725"/>
                <a:ext cx="2990215" cy="1272540"/>
              </a:xfrm>
              <a:prstGeom prst="rect">
                <a:avLst/>
              </a:prstGeom>
              <a:noFill/>
            </p:spPr>
            <p:txBody>
              <a:bodyPr wrap="square" lIns="54864" tIns="54864" rIns="54864" bIns="54864" anchor="t">
                <a:noAutofit/>
              </a:bodyPr>
              <a:lstStyle/>
              <a:p>
                <a:pPr algn="l"/>
                <a:r>
                  <a:rPr lang="zh-CN" altLang="en-US" sz="1600" b="1" i="0">
                    <a:solidFill>
                      <a:srgbClr val="00928E"/>
                    </a:solidFill>
                    <a:latin typeface="微软雅黑" panose="020B0503020204020204" charset="-122"/>
                  </a:rPr>
                  <a:t>模型的决定系数</a:t>
                </a:r>
                <a:r>
                  <a:rPr lang="en-US" altLang="zh-CN" sz="1600" b="1" i="0">
                    <a:solidFill>
                      <a:srgbClr val="00928E"/>
                    </a:solidFill>
                    <a:latin typeface="微软雅黑" panose="020B050302020402020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>
                            <a:solidFill>
                              <a:srgbClr val="00928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>
                            <a:solidFill>
                              <a:srgbClr val="00928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1600" b="1" i="1">
                            <a:solidFill>
                              <a:srgbClr val="00928E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600" b="1" i="1">
                        <a:solidFill>
                          <a:srgbClr val="00928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>
                        <a:solidFill>
                          <a:srgbClr val="00928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𝟎</m:t>
                    </m:r>
                    <m:r>
                      <a:rPr lang="en-US" altLang="zh-CN" sz="1600" b="1" i="1">
                        <a:solidFill>
                          <a:srgbClr val="00928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  <m:r>
                      <a:rPr lang="en-US" altLang="zh-CN" sz="1600" b="1" i="1">
                        <a:solidFill>
                          <a:srgbClr val="00928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𝟗𝟗𝟕𝟑</m:t>
                    </m:r>
                  </m:oMath>
                </a14:m>
                <a:r>
                  <a:rPr lang="en-US" altLang="zh-CN" sz="1600" b="1" i="1">
                    <a:solidFill>
                      <a:srgbClr val="00928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1600" b="1">
                    <a:solidFill>
                      <a:srgbClr val="00928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说明当前延迟矩阵可以由 </a:t>
                </a:r>
                <a:r>
                  <a:rPr lang="en-US" altLang="zh-CN" sz="1600" b="1">
                    <a:solidFill>
                      <a:srgbClr val="00928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SM </a:t>
                </a:r>
                <a:r>
                  <a:rPr lang="zh-CN" altLang="en-US" sz="1600" b="1">
                    <a:solidFill>
                      <a:srgbClr val="00928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主效应和地址探针主效应的线性叠加解释。</a:t>
                </a:r>
                <a:endParaRPr lang="zh-CN" altLang="en-US" sz="1600" b="1">
                  <a:solidFill>
                    <a:srgbClr val="00928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l"/>
                <a:endParaRPr lang="zh-CN" altLang="en-US" sz="1600">
                  <a:solidFill>
                    <a:srgbClr val="00928E"/>
                  </a:solidFill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5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880" y="4403725"/>
                <a:ext cx="2990215" cy="1272540"/>
              </a:xfrm>
              <a:prstGeom prst="rect">
                <a:avLst/>
              </a:prstGeom>
              <a:blipFill rotWithShape="1">
                <a:blip r:embed="rId12"/>
                <a:stretch>
                  <a:fillRect b="-8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图片 45" descr="topology_model"/>
          <p:cNvPicPr>
            <a:picLocks noChangeAspect="1"/>
          </p:cNvPicPr>
          <p:nvPr/>
        </p:nvPicPr>
        <p:blipFill>
          <a:blip r:embed="rId1"/>
          <a:srcRect l="50747"/>
          <a:stretch>
            <a:fillRect/>
          </a:stretch>
        </p:blipFill>
        <p:spPr>
          <a:xfrm>
            <a:off x="502920" y="3362960"/>
            <a:ext cx="3515360" cy="2588895"/>
          </a:xfrm>
          <a:prstGeom prst="rect">
            <a:avLst/>
          </a:prstGeom>
        </p:spPr>
      </p:pic>
      <p:sp>
        <p:nvSpPr>
          <p:cNvPr id="6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589135" y="6489192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sp>
        <p:nvSpPr>
          <p:cNvPr id="7" name="Rounded Rectangle 7"/>
          <p:cNvSpPr/>
          <p:nvPr/>
        </p:nvSpPr>
        <p:spPr>
          <a:xfrm>
            <a:off x="8258810" y="5525770"/>
            <a:ext cx="2985770" cy="788670"/>
          </a:xfrm>
          <a:prstGeom prst="roundRect">
            <a:avLst>
              <a:gd name="adj" fmla="val 8000"/>
            </a:avLst>
          </a:prstGeom>
          <a:solidFill>
            <a:srgbClr val="E5EFF8"/>
          </a:solidFill>
          <a:ln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8"/>
          <p:cNvSpPr txBox="1"/>
          <p:nvPr/>
        </p:nvSpPr>
        <p:spPr>
          <a:xfrm>
            <a:off x="8281670" y="5542280"/>
            <a:ext cx="3048635" cy="762635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l"/>
            <a:r>
              <a:rPr lang="zh-CN" altLang="en-US" sz="1500" b="1" i="0" dirty="0">
                <a:solidFill>
                  <a:srgbClr val="143052"/>
                </a:solidFill>
                <a:latin typeface="微软雅黑" panose="020B0503020204020204" charset="-122"/>
              </a:rPr>
              <a:t>推测：如果不满足加性</a:t>
            </a:r>
            <a:r>
              <a:rPr lang="en-US" altLang="zh-CN" sz="1500" b="1" i="0" dirty="0">
                <a:solidFill>
                  <a:srgbClr val="143052"/>
                </a:solidFill>
                <a:latin typeface="微软雅黑" panose="020B0503020204020204" charset="-122"/>
              </a:rPr>
              <a:t> NUCA </a:t>
            </a:r>
            <a:r>
              <a:rPr lang="zh-CN" altLang="en-US" sz="1500" b="1" i="0" dirty="0">
                <a:solidFill>
                  <a:srgbClr val="143052"/>
                </a:solidFill>
                <a:latin typeface="微软雅黑" panose="020B0503020204020204" charset="-122"/>
              </a:rPr>
              <a:t>模型，则拓扑或者是映射相对</a:t>
            </a:r>
            <a:r>
              <a:rPr lang="en-US" altLang="zh-CN" sz="1500" b="1" i="0" dirty="0">
                <a:solidFill>
                  <a:srgbClr val="143052"/>
                </a:solidFill>
                <a:latin typeface="微软雅黑" panose="020B0503020204020204" charset="-122"/>
              </a:rPr>
              <a:t> 5080 GPU </a:t>
            </a:r>
            <a:r>
              <a:rPr lang="zh-CN" altLang="en-US" sz="1500" b="1" i="0" dirty="0">
                <a:solidFill>
                  <a:srgbClr val="143052"/>
                </a:solidFill>
                <a:latin typeface="微软雅黑" panose="020B0503020204020204" charset="-122"/>
              </a:rPr>
              <a:t>有</a:t>
            </a:r>
            <a:r>
              <a:rPr lang="zh-CN" altLang="en-US" sz="1500" b="1" i="0" dirty="0">
                <a:solidFill>
                  <a:srgbClr val="143052"/>
                </a:solidFill>
                <a:latin typeface="微软雅黑" panose="020B0503020204020204" charset="-122"/>
              </a:rPr>
              <a:t>变化。</a:t>
            </a:r>
            <a:endParaRPr lang="zh-CN" altLang="en-US" sz="1500" b="1" i="0" dirty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ed Rectangle 11"/>
          <p:cNvSpPr/>
          <p:nvPr>
            <p:custDataLst>
              <p:tags r:id="rId1"/>
            </p:custDataLst>
          </p:nvPr>
        </p:nvSpPr>
        <p:spPr>
          <a:xfrm>
            <a:off x="6786245" y="5241925"/>
            <a:ext cx="3794760" cy="972820"/>
          </a:xfrm>
          <a:prstGeom prst="roundRect">
            <a:avLst>
              <a:gd name="adj" fmla="val 8000"/>
            </a:avLst>
          </a:prstGeom>
          <a:solidFill>
            <a:srgbClr val="E2F5F2"/>
          </a:solidFill>
          <a:ln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35" name="Rounded Rectangle 11"/>
          <p:cNvSpPr/>
          <p:nvPr>
            <p:custDataLst>
              <p:tags r:id="rId2"/>
            </p:custDataLst>
          </p:nvPr>
        </p:nvSpPr>
        <p:spPr>
          <a:xfrm>
            <a:off x="1210945" y="5252085"/>
            <a:ext cx="3794760" cy="972820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spcAft>
                <a:spcPts val="800"/>
              </a:spcAft>
              <a:buNone/>
              <a:defRPr sz="1600">
                <a:solidFill>
                  <a:srgbClr val="222D3A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3052"/>
          </a:solidFill>
          <a:ln>
            <a:solidFill>
              <a:srgbClr val="14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500" b="1">
                <a:solidFill>
                  <a:srgbClr val="143052"/>
                </a:solidFill>
                <a:latin typeface="微软雅黑" panose="020B0503020204020204" charset="-122"/>
              </a:rPr>
              <a:t>测试点八：L2 地址映射与候选拓扑</a:t>
            </a:r>
            <a:endParaRPr sz="2500" b="1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47472"/>
            <a:ext cx="14173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677584"/>
                </a:solidFill>
                <a:latin typeface="微软雅黑" panose="020B0503020204020204" charset="-122"/>
              </a:rPr>
              <a:t>18</a:t>
            </a:r>
            <a:endParaRPr sz="900" b="0" i="0">
              <a:solidFill>
                <a:srgbClr val="677584"/>
              </a:solidFill>
              <a:latin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图片 30" descr="topology_gpc_tpc_combined"/>
          <p:cNvPicPr>
            <a:picLocks noChangeAspect="1"/>
          </p:cNvPicPr>
          <p:nvPr/>
        </p:nvPicPr>
        <p:blipFill>
          <a:blip r:embed="rId3"/>
          <a:srcRect l="7983" t="9815" r="8174" b="50271"/>
          <a:stretch>
            <a:fillRect/>
          </a:stretch>
        </p:blipFill>
        <p:spPr>
          <a:xfrm>
            <a:off x="387350" y="1416685"/>
            <a:ext cx="5263515" cy="3445510"/>
          </a:xfrm>
          <a:prstGeom prst="rect">
            <a:avLst/>
          </a:prstGeom>
        </p:spPr>
      </p:pic>
      <p:pic>
        <p:nvPicPr>
          <p:cNvPr id="32" name="图片 31" descr="topology_gpc_tpc_combined"/>
          <p:cNvPicPr>
            <a:picLocks noChangeAspect="1"/>
          </p:cNvPicPr>
          <p:nvPr/>
        </p:nvPicPr>
        <p:blipFill>
          <a:blip r:embed="rId3"/>
          <a:srcRect l="7983" t="50620" r="10805" b="7991"/>
          <a:stretch>
            <a:fillRect/>
          </a:stretch>
        </p:blipFill>
        <p:spPr>
          <a:xfrm>
            <a:off x="5765165" y="1101725"/>
            <a:ext cx="5855335" cy="4104005"/>
          </a:xfrm>
          <a:prstGeom prst="rect">
            <a:avLst/>
          </a:prstGeom>
        </p:spPr>
      </p:pic>
      <p:sp>
        <p:nvSpPr>
          <p:cNvPr id="37" name="TextBox 26"/>
          <p:cNvSpPr txBox="1"/>
          <p:nvPr>
            <p:custDataLst>
              <p:tags r:id="rId4"/>
            </p:custDataLst>
          </p:nvPr>
        </p:nvSpPr>
        <p:spPr>
          <a:xfrm>
            <a:off x="1640840" y="5522595"/>
            <a:ext cx="3126740" cy="70231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noAutofit/>
          </a:bodyPr>
          <a:lstStyle/>
          <a:p>
            <a:pPr algn="l"/>
            <a:r>
              <a:rPr lang="zh-CN" altLang="en-US" sz="1400" b="1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</a:t>
            </a:r>
            <a:r>
              <a:rPr lang="en-US" altLang="zh-CN" sz="1400" b="1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 </a:t>
            </a:r>
            <a:r>
              <a:rPr lang="zh-CN" altLang="en-US" sz="1400" b="1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 </a:t>
            </a:r>
            <a:r>
              <a:rPr lang="en-US" altLang="zh-CN" sz="1400" b="1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 </a:t>
            </a:r>
            <a:r>
              <a:rPr lang="zh-CN" altLang="en-US" sz="1400" b="1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的平均访问延迟最低 309.9 </a:t>
            </a:r>
            <a:r>
              <a:rPr lang="en-US" altLang="zh-CN" sz="1400" b="1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cycles；</a:t>
            </a:r>
            <a:r>
              <a:rPr lang="zh-CN" altLang="en-US" sz="1400" b="1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最高 368 </a:t>
            </a:r>
            <a:r>
              <a:rPr lang="en-US" altLang="zh-CN" sz="1400" b="1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cycles</a:t>
            </a:r>
            <a:endParaRPr lang="en-US" altLang="zh-CN" sz="1400" b="1">
              <a:solidFill>
                <a:srgbClr val="222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en-US" altLang="zh-CN" sz="1400" b="1">
              <a:solidFill>
                <a:srgbClr val="222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8"/>
          <p:cNvSpPr txBox="1"/>
          <p:nvPr/>
        </p:nvSpPr>
        <p:spPr>
          <a:xfrm>
            <a:off x="7376160" y="5487670"/>
            <a:ext cx="2880995" cy="542290"/>
          </a:xfrm>
          <a:prstGeom prst="rect">
            <a:avLst/>
          </a:prstGeom>
          <a:noFill/>
        </p:spPr>
        <p:txBody>
          <a:bodyPr wrap="square" lIns="45720" tIns="27432" rIns="36576">
            <a:noAutofit/>
          </a:bodyPr>
          <a:lstStyle/>
          <a:p>
            <a:pPr indent="0">
              <a:spcAft>
                <a:spcPts val="800"/>
              </a:spcAft>
              <a:buNone/>
              <a:defRPr sz="1600">
                <a:solidFill>
                  <a:srgbClr val="222D3A"/>
                </a:solidFill>
                <a:latin typeface="微软雅黑" panose="020B0503020204020204" charset="-122"/>
              </a:defRPr>
            </a:pPr>
            <a:r>
              <a:rPr lang="zh-CN" altLang="en-US" sz="1400" b="1">
                <a:ea typeface="微软雅黑" panose="020B0503020204020204" charset="-122"/>
                <a:cs typeface="微软雅黑" panose="020B0503020204020204" charset="-122"/>
                <a:sym typeface="+mn-ea"/>
              </a:rPr>
              <a:t>延迟矩阵能够高置信度进行聚类，形成 SM-&gt;L2 延迟拓扑图。</a:t>
            </a:r>
            <a:endParaRPr lang="zh-CN" altLang="en-US" sz="1400" b="1"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589135" y="6489192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cxnSp>
        <p:nvCxnSpPr>
          <p:cNvPr id="3" name="直接箭头连接符 2"/>
          <p:cNvCxnSpPr/>
          <p:nvPr/>
        </p:nvCxnSpPr>
        <p:spPr>
          <a:xfrm flipH="1">
            <a:off x="10643870" y="3728085"/>
            <a:ext cx="43497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6180455" y="3226435"/>
            <a:ext cx="196215" cy="24003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2173605" y="1416050"/>
            <a:ext cx="602615" cy="1447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640840" y="1109345"/>
            <a:ext cx="2594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SM-&gt;TPC 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聚类可信度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非常高</a:t>
            </a:r>
            <a:endParaRPr lang="zh-CN" altLang="en-US" sz="1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3052"/>
          </a:solidFill>
          <a:ln>
            <a:solidFill>
              <a:srgbClr val="14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500" b="1">
                <a:solidFill>
                  <a:srgbClr val="143052"/>
                </a:solidFill>
                <a:latin typeface="微软雅黑" panose="020B0503020204020204" charset="-122"/>
              </a:rPr>
              <a:t>测试点九：基于 L2 延迟指纹的 SM 识别</a:t>
            </a:r>
            <a:endParaRPr sz="2500" b="1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47472"/>
            <a:ext cx="14173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677584"/>
                </a:solidFill>
                <a:latin typeface="微软雅黑" panose="020B0503020204020204" charset="-122"/>
              </a:rPr>
              <a:t>19</a:t>
            </a:r>
            <a:endParaRPr sz="900" b="0" i="0">
              <a:solidFill>
                <a:srgbClr val="677584"/>
              </a:solidFill>
              <a:latin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611112" y="1335024"/>
            <a:ext cx="4425696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00" b="1">
                <a:solidFill>
                  <a:srgbClr val="143052"/>
                </a:solidFill>
                <a:latin typeface="微软雅黑" panose="020B0503020204020204" charset="-122"/>
              </a:rPr>
              <a:t>目标</a:t>
            </a:r>
            <a:endParaRPr sz="1200" b="1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11112" y="2459736"/>
            <a:ext cx="4425696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00" b="1">
                <a:solidFill>
                  <a:srgbClr val="00928E"/>
                </a:solidFill>
                <a:latin typeface="微软雅黑" panose="020B0503020204020204" charset="-122"/>
              </a:rPr>
              <a:t>思路</a:t>
            </a:r>
            <a:endParaRPr sz="1200" b="1">
              <a:solidFill>
                <a:srgbClr val="00928E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97620" y="4236085"/>
            <a:ext cx="2257425" cy="727075"/>
          </a:xfrm>
          <a:prstGeom prst="rect">
            <a:avLst/>
          </a:prstGeom>
          <a:noFill/>
        </p:spPr>
        <p:txBody>
          <a:bodyPr wrap="square" lIns="54864" tIns="36576" rIns="54864" bIns="36576" anchor="t">
            <a:noAutofit/>
          </a:bodyPr>
          <a:lstStyle/>
          <a:p>
            <a:pPr algn="l"/>
            <a:r>
              <a:rPr lang="zh-CN" altLang="en-US" sz="1600" b="1">
                <a:solidFill>
                  <a:srgbClr val="00928E"/>
                </a:solidFill>
                <a:latin typeface="微软雅黑" panose="020B0503020204020204" charset="-122"/>
              </a:rPr>
              <a:t>延迟指纹可用于精确识别 SM 候选范围与半区</a:t>
            </a:r>
            <a:endParaRPr sz="1100" b="1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5"/>
          <p:cNvSpPr/>
          <p:nvPr>
            <p:custDataLst>
              <p:tags r:id="rId1"/>
            </p:custDataLst>
          </p:nvPr>
        </p:nvSpPr>
        <p:spPr>
          <a:xfrm>
            <a:off x="685800" y="123444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E5EFF8"/>
          </a:solidFill>
          <a:ln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6"/>
          <p:cNvSpPr txBox="1"/>
          <p:nvPr>
            <p:custDataLst>
              <p:tags r:id="rId2"/>
            </p:custDataLst>
          </p:nvPr>
        </p:nvSpPr>
        <p:spPr>
          <a:xfrm>
            <a:off x="932688" y="1536192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43052"/>
                </a:solidFill>
                <a:latin typeface="微软雅黑" panose="020B0503020204020204" charset="-122"/>
              </a:rPr>
              <a:t>目标</a:t>
            </a:r>
            <a:endParaRPr sz="15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35" name="TextBox 7"/>
          <p:cNvSpPr txBox="1"/>
          <p:nvPr>
            <p:custDataLst>
              <p:tags r:id="rId3"/>
            </p:custDataLst>
          </p:nvPr>
        </p:nvSpPr>
        <p:spPr>
          <a:xfrm>
            <a:off x="932688" y="1938528"/>
            <a:ext cx="2697480" cy="5092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验证不同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 SM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是否具有可区分的延迟指纹</a:t>
            </a:r>
            <a:endParaRPr sz="1300" i="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8"/>
          <p:cNvSpPr/>
          <p:nvPr>
            <p:custDataLst>
              <p:tags r:id="rId4"/>
            </p:custDataLst>
          </p:nvPr>
        </p:nvSpPr>
        <p:spPr>
          <a:xfrm>
            <a:off x="4434840" y="123444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E2F5F2"/>
          </a:solidFill>
          <a:ln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9"/>
          <p:cNvSpPr txBox="1"/>
          <p:nvPr>
            <p:custDataLst>
              <p:tags r:id="rId5"/>
            </p:custDataLst>
          </p:nvPr>
        </p:nvSpPr>
        <p:spPr>
          <a:xfrm>
            <a:off x="4681728" y="1536192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00928E"/>
                </a:solidFill>
                <a:latin typeface="微软雅黑" panose="020B0503020204020204" charset="-122"/>
              </a:rPr>
              <a:t>思路</a:t>
            </a:r>
            <a:endParaRPr sz="1500" b="1" i="0">
              <a:solidFill>
                <a:srgbClr val="00928E"/>
              </a:solidFill>
              <a:latin typeface="微软雅黑" panose="020B0503020204020204" charset="-122"/>
            </a:endParaRPr>
          </a:p>
        </p:txBody>
      </p:sp>
      <p:sp>
        <p:nvSpPr>
          <p:cNvPr id="38" name="TextBox 10"/>
          <p:cNvSpPr txBox="1"/>
          <p:nvPr>
            <p:custDataLst>
              <p:tags r:id="rId6"/>
            </p:custDataLst>
          </p:nvPr>
        </p:nvSpPr>
        <p:spPr>
          <a:xfrm>
            <a:off x="4681728" y="1938528"/>
            <a:ext cx="2697480" cy="91101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CN" altLang="en-US" sz="1300" dirty="0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为每个 </a:t>
            </a:r>
            <a:r>
              <a:rPr lang="en-US" altLang="zh-CN" sz="1300" dirty="0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SM </a:t>
            </a:r>
            <a:r>
              <a:rPr lang="zh-CN" altLang="en-US" sz="1300" dirty="0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采集多个固定地址探针的延迟向量，并按独立 </a:t>
            </a:r>
            <a:r>
              <a:rPr lang="en-US" altLang="zh-CN" sz="1300" dirty="0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shot </a:t>
            </a:r>
            <a:r>
              <a:rPr lang="zh-CN" altLang="en-US" sz="1300" dirty="0">
                <a:solidFill>
                  <a:srgbClr val="222D3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划分训练集和测试集，使用随机森林方法训练和测试</a:t>
            </a:r>
            <a:endParaRPr sz="1300" dirty="0">
              <a:solidFill>
                <a:srgbClr val="222D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ounded Rectangle 11"/>
          <p:cNvSpPr/>
          <p:nvPr>
            <p:custDataLst>
              <p:tags r:id="rId7"/>
            </p:custDataLst>
          </p:nvPr>
        </p:nvSpPr>
        <p:spPr>
          <a:xfrm>
            <a:off x="8183879" y="123444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12"/>
          <p:cNvSpPr txBox="1"/>
          <p:nvPr>
            <p:custDataLst>
              <p:tags r:id="rId8"/>
            </p:custDataLst>
          </p:nvPr>
        </p:nvSpPr>
        <p:spPr>
          <a:xfrm>
            <a:off x="8430768" y="1536192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E07E2D"/>
                </a:solidFill>
                <a:latin typeface="微软雅黑" panose="020B0503020204020204" charset="-122"/>
              </a:rPr>
              <a:t>结果</a:t>
            </a:r>
            <a:endParaRPr sz="1500" b="1" i="0">
              <a:solidFill>
                <a:srgbClr val="E07E2D"/>
              </a:solidFill>
              <a:latin typeface="微软雅黑" panose="020B0503020204020204" charset="-122"/>
            </a:endParaRPr>
          </a:p>
        </p:txBody>
      </p:sp>
      <p:sp>
        <p:nvSpPr>
          <p:cNvPr id="41" name="TextBox 13"/>
          <p:cNvSpPr txBox="1"/>
          <p:nvPr>
            <p:custDataLst>
              <p:tags r:id="rId9"/>
            </p:custDataLst>
          </p:nvPr>
        </p:nvSpPr>
        <p:spPr>
          <a:xfrm>
            <a:off x="8430768" y="1938528"/>
            <a:ext cx="2697480" cy="70929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精确识别率约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 70%；Top-5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与半区识别率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 100%，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显著高于约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 1.2%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的随机基线</a:t>
            </a:r>
            <a:endParaRPr sz="130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pic>
        <p:nvPicPr>
          <p:cNvPr id="9" name="图片 8" descr="oracle_accuracy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075" y="3218180"/>
            <a:ext cx="8050530" cy="2920365"/>
          </a:xfrm>
          <a:prstGeom prst="rect">
            <a:avLst/>
          </a:prstGeom>
        </p:spPr>
      </p:pic>
      <p:sp>
        <p:nvSpPr>
          <p:cNvPr id="6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589135" y="6489192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3052"/>
          </a:solidFill>
          <a:ln>
            <a:solidFill>
              <a:srgbClr val="14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500" b="1">
                <a:solidFill>
                  <a:srgbClr val="143052"/>
                </a:solidFill>
                <a:latin typeface="微软雅黑" panose="020B0503020204020204" charset="-122"/>
              </a:rPr>
              <a:t>测试点十：访存与计算吞吐饱和</a:t>
            </a:r>
            <a:endParaRPr sz="2500" b="1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5530" y="3629533"/>
            <a:ext cx="2744469" cy="2038604"/>
          </a:xfrm>
          <a:prstGeom prst="rect">
            <a:avLst/>
          </a:prstGeom>
          <a:noFill/>
        </p:spPr>
        <p:txBody>
          <a:bodyPr wrap="square" lIns="54864" tIns="36576" rIns="54864" bIns="36576" anchor="t">
            <a:noAutofit/>
          </a:bodyPr>
          <a:lstStyle/>
          <a:p>
            <a:pPr algn="l"/>
            <a:r>
              <a:rPr sz="1300" b="1" dirty="0" err="1">
                <a:solidFill>
                  <a:srgbClr val="00928E"/>
                </a:solidFill>
                <a:latin typeface="微软雅黑" panose="020B0503020204020204" charset="-122"/>
              </a:rPr>
              <a:t>该微基准清晰标定了从访存受限到计算受限的过渡区间</a:t>
            </a:r>
            <a:r>
              <a:rPr sz="1300" b="1" dirty="0">
                <a:solidFill>
                  <a:srgbClr val="00928E"/>
                </a:solidFill>
                <a:latin typeface="微软雅黑" panose="020B0503020204020204" charset="-122"/>
              </a:rPr>
              <a:t>。</a:t>
            </a:r>
            <a:endParaRPr lang="en-US" sz="1300" b="1" dirty="0">
              <a:solidFill>
                <a:srgbClr val="00928E"/>
              </a:solidFill>
              <a:latin typeface="微软雅黑" panose="020B0503020204020204" charset="-122"/>
            </a:endParaRPr>
          </a:p>
          <a:p>
            <a:pPr algn="l"/>
            <a:endParaRPr lang="en-US" sz="1300" b="1" dirty="0">
              <a:solidFill>
                <a:srgbClr val="00928E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1300" b="1" dirty="0">
                <a:solidFill>
                  <a:srgbClr val="00928E"/>
                </a:solidFill>
                <a:latin typeface="微软雅黑" panose="020B0503020204020204" charset="-122"/>
              </a:rPr>
              <a:t>DRAM</a:t>
            </a:r>
            <a:r>
              <a:rPr lang="zh-CN" altLang="en-US" sz="1300" b="1" dirty="0">
                <a:solidFill>
                  <a:srgbClr val="00928E"/>
                </a:solidFill>
                <a:latin typeface="微软雅黑" panose="020B0503020204020204" charset="-122"/>
              </a:rPr>
              <a:t> 读</a:t>
            </a:r>
            <a:r>
              <a:rPr lang="en-US" altLang="zh-CN" sz="1300" b="1" dirty="0">
                <a:solidFill>
                  <a:srgbClr val="00928E"/>
                </a:solidFill>
                <a:latin typeface="微软雅黑" panose="020B0503020204020204" charset="-122"/>
              </a:rPr>
              <a:t>+</a:t>
            </a:r>
            <a:r>
              <a:rPr lang="zh-CN" altLang="en-US" sz="1300" b="1" dirty="0">
                <a:solidFill>
                  <a:srgbClr val="00928E"/>
                </a:solidFill>
                <a:latin typeface="微软雅黑" panose="020B0503020204020204" charset="-122"/>
              </a:rPr>
              <a:t>写带宽与前文 </a:t>
            </a:r>
            <a:r>
              <a:rPr lang="en-US" altLang="zh-CN" sz="1300" b="1" dirty="0">
                <a:solidFill>
                  <a:srgbClr val="00928E"/>
                </a:solidFill>
                <a:latin typeface="微软雅黑" panose="020B0503020204020204" charset="-122"/>
              </a:rPr>
              <a:t>795.78 GB/s </a:t>
            </a:r>
            <a:r>
              <a:rPr lang="zh-CN" altLang="en-US" sz="1300" b="1" dirty="0">
                <a:solidFill>
                  <a:srgbClr val="00928E"/>
                </a:solidFill>
                <a:latin typeface="微软雅黑" panose="020B0503020204020204" charset="-122"/>
              </a:rPr>
              <a:t>近似。</a:t>
            </a:r>
            <a:endParaRPr lang="en-US" altLang="zh-CN" sz="1300" b="1" dirty="0">
              <a:solidFill>
                <a:srgbClr val="00928E"/>
              </a:solidFill>
              <a:latin typeface="微软雅黑" panose="020B0503020204020204" charset="-122"/>
            </a:endParaRPr>
          </a:p>
          <a:p>
            <a:pPr algn="l"/>
            <a:endParaRPr lang="en-US" altLang="zh-CN" sz="1300" b="1" dirty="0">
              <a:solidFill>
                <a:srgbClr val="00928E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1300" b="1" dirty="0">
                <a:solidFill>
                  <a:srgbClr val="00928E"/>
                </a:solidFill>
                <a:latin typeface="微软雅黑" panose="020B0503020204020204" charset="-122"/>
              </a:rPr>
              <a:t>FP32 </a:t>
            </a:r>
            <a:r>
              <a:rPr lang="zh-CN" altLang="en-US" sz="1300" b="1" dirty="0">
                <a:solidFill>
                  <a:srgbClr val="00928E"/>
                </a:solidFill>
                <a:latin typeface="微软雅黑" panose="020B0503020204020204" charset="-122"/>
              </a:rPr>
              <a:t>峰值计算强度与官方 </a:t>
            </a:r>
            <a:r>
              <a:rPr lang="en-US" altLang="zh-CN" sz="1300" b="1" dirty="0">
                <a:solidFill>
                  <a:srgbClr val="00928E"/>
                </a:solidFill>
                <a:latin typeface="微软雅黑" panose="020B0503020204020204" charset="-122"/>
              </a:rPr>
              <a:t>56.3 TFLOPS </a:t>
            </a:r>
            <a:r>
              <a:rPr lang="zh-CN" altLang="en-US" sz="1300" b="1" dirty="0">
                <a:solidFill>
                  <a:srgbClr val="00928E"/>
                </a:solidFill>
                <a:latin typeface="微软雅黑" panose="020B0503020204020204" charset="-122"/>
              </a:rPr>
              <a:t>近似。</a:t>
            </a:r>
            <a:endParaRPr lang="en-US" altLang="zh-CN" sz="1300" b="1" dirty="0">
              <a:solidFill>
                <a:srgbClr val="00928E"/>
              </a:solidFill>
              <a:latin typeface="微软雅黑" panose="020B0503020204020204" charset="-122"/>
            </a:endParaRPr>
          </a:p>
          <a:p>
            <a:pPr algn="l"/>
            <a:endParaRPr lang="en-US" altLang="zh-CN" sz="1300" b="1" dirty="0">
              <a:solidFill>
                <a:srgbClr val="00928E"/>
              </a:solidFill>
              <a:latin typeface="微软雅黑" panose="020B0503020204020204" charset="-122"/>
            </a:endParaRPr>
          </a:p>
        </p:txBody>
      </p:sp>
      <p:pic>
        <p:nvPicPr>
          <p:cNvPr id="16" name="图片 15" descr="roofline_satura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120" y="3218180"/>
            <a:ext cx="8106410" cy="28613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11112" y="1335024"/>
            <a:ext cx="4425696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00" b="1">
                <a:solidFill>
                  <a:srgbClr val="143052"/>
                </a:solidFill>
                <a:latin typeface="微软雅黑" panose="020B0503020204020204" charset="-122"/>
              </a:rPr>
              <a:t>目标</a:t>
            </a:r>
            <a:endParaRPr sz="1200" b="1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11112" y="2459736"/>
            <a:ext cx="4425696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00" b="1">
                <a:solidFill>
                  <a:srgbClr val="00928E"/>
                </a:solidFill>
                <a:latin typeface="微软雅黑" panose="020B0503020204020204" charset="-122"/>
              </a:rPr>
              <a:t>思路</a:t>
            </a:r>
            <a:endParaRPr sz="1200" b="1">
              <a:solidFill>
                <a:srgbClr val="00928E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5"/>
          <p:cNvSpPr/>
          <p:nvPr>
            <p:custDataLst>
              <p:tags r:id="rId2"/>
            </p:custDataLst>
          </p:nvPr>
        </p:nvSpPr>
        <p:spPr>
          <a:xfrm>
            <a:off x="685800" y="123444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E5EFF8"/>
          </a:solidFill>
          <a:ln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6"/>
          <p:cNvSpPr txBox="1"/>
          <p:nvPr>
            <p:custDataLst>
              <p:tags r:id="rId3"/>
            </p:custDataLst>
          </p:nvPr>
        </p:nvSpPr>
        <p:spPr>
          <a:xfrm>
            <a:off x="932688" y="1536192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43052"/>
                </a:solidFill>
                <a:latin typeface="微软雅黑" panose="020B0503020204020204" charset="-122"/>
              </a:rPr>
              <a:t>目标</a:t>
            </a:r>
            <a:endParaRPr sz="15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  <p:sp>
        <p:nvSpPr>
          <p:cNvPr id="35" name="TextBox 7"/>
          <p:cNvSpPr txBox="1"/>
          <p:nvPr>
            <p:custDataLst>
              <p:tags r:id="rId4"/>
            </p:custDataLst>
          </p:nvPr>
        </p:nvSpPr>
        <p:spPr>
          <a:xfrm>
            <a:off x="932688" y="1938528"/>
            <a:ext cx="2697480" cy="5092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识别负载从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 memory-bound 到 compute-bound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的转换</a:t>
            </a:r>
            <a:endParaRPr sz="1300" i="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8"/>
          <p:cNvSpPr/>
          <p:nvPr>
            <p:custDataLst>
              <p:tags r:id="rId5"/>
            </p:custDataLst>
          </p:nvPr>
        </p:nvSpPr>
        <p:spPr>
          <a:xfrm>
            <a:off x="4434840" y="123444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E2F5F2"/>
          </a:solidFill>
          <a:ln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9"/>
          <p:cNvSpPr txBox="1"/>
          <p:nvPr>
            <p:custDataLst>
              <p:tags r:id="rId6"/>
            </p:custDataLst>
          </p:nvPr>
        </p:nvSpPr>
        <p:spPr>
          <a:xfrm>
            <a:off x="4681728" y="1536192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00928E"/>
                </a:solidFill>
                <a:latin typeface="微软雅黑" panose="020B0503020204020204" charset="-122"/>
              </a:rPr>
              <a:t>思路</a:t>
            </a:r>
            <a:endParaRPr sz="1500" b="1" i="0">
              <a:solidFill>
                <a:srgbClr val="00928E"/>
              </a:solidFill>
              <a:latin typeface="微软雅黑" panose="020B0503020204020204" charset="-122"/>
            </a:endParaRPr>
          </a:p>
        </p:txBody>
      </p:sp>
      <p:sp>
        <p:nvSpPr>
          <p:cNvPr id="38" name="TextBox 10"/>
          <p:cNvSpPr txBox="1"/>
          <p:nvPr>
            <p:custDataLst>
              <p:tags r:id="rId7"/>
            </p:custDataLst>
          </p:nvPr>
        </p:nvSpPr>
        <p:spPr>
          <a:xfrm>
            <a:off x="4681728" y="1938528"/>
            <a:ext cx="2697480" cy="5092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固定一次全局读和写，逐步增加中间</a:t>
            </a:r>
            <a:r>
              <a:rPr sz="1300" dirty="0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 FMA </a:t>
            </a:r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数量以改变算术强度</a:t>
            </a:r>
            <a:endParaRPr sz="130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11"/>
          <p:cNvSpPr/>
          <p:nvPr>
            <p:custDataLst>
              <p:tags r:id="rId8"/>
            </p:custDataLst>
          </p:nvPr>
        </p:nvSpPr>
        <p:spPr>
          <a:xfrm>
            <a:off x="8183879" y="123444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12"/>
          <p:cNvSpPr txBox="1"/>
          <p:nvPr>
            <p:custDataLst>
              <p:tags r:id="rId9"/>
            </p:custDataLst>
          </p:nvPr>
        </p:nvSpPr>
        <p:spPr>
          <a:xfrm>
            <a:off x="8430768" y="1536192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E07E2D"/>
                </a:solidFill>
                <a:latin typeface="微软雅黑" panose="020B0503020204020204" charset="-122"/>
              </a:rPr>
              <a:t>结果</a:t>
            </a:r>
            <a:endParaRPr sz="1500" b="1" i="0">
              <a:solidFill>
                <a:srgbClr val="E07E2D"/>
              </a:solidFill>
              <a:latin typeface="微软雅黑" panose="020B0503020204020204" charset="-122"/>
            </a:endParaRPr>
          </a:p>
        </p:txBody>
      </p:sp>
      <p:sp>
        <p:nvSpPr>
          <p:cNvPr id="41" name="TextBox 13"/>
          <p:cNvSpPr txBox="1"/>
          <p:nvPr>
            <p:custDataLst>
              <p:tags r:id="rId10"/>
            </p:custDataLst>
          </p:nvPr>
        </p:nvSpPr>
        <p:spPr>
          <a:xfrm>
            <a:off x="8430768" y="1938528"/>
            <a:ext cx="2697480" cy="5092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dirty="0" err="1">
                <a:solidFill>
                  <a:srgbClr val="222D3A"/>
                </a:solidFill>
                <a:latin typeface="微软雅黑" panose="020B0503020204020204" charset="-122"/>
                <a:sym typeface="+mn-ea"/>
              </a:rPr>
              <a:t>低强度时带宽稳定；高强度时带宽下降、计算吞吐趋于饱和</a:t>
            </a:r>
            <a:endParaRPr sz="1300" dirty="0">
              <a:solidFill>
                <a:srgbClr val="222D3A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589135" y="6489192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632835" y="2780030"/>
            <a:ext cx="4804410" cy="6629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CN" sz="3600" b="1" i="0">
                <a:solidFill>
                  <a:srgbClr val="143052"/>
                </a:solidFill>
                <a:latin typeface="微软雅黑" panose="020B0503020204020204" charset="-122"/>
              </a:rPr>
              <a:t>汇报到此结束，</a:t>
            </a:r>
            <a:r>
              <a:rPr lang="zh-CN" sz="3600" b="1" i="0">
                <a:solidFill>
                  <a:srgbClr val="143052"/>
                </a:solidFill>
                <a:latin typeface="微软雅黑" panose="020B0503020204020204" charset="-122"/>
              </a:rPr>
              <a:t>谢谢！</a:t>
            </a:r>
            <a:endParaRPr lang="zh-CN" sz="3600" b="1" i="0">
              <a:solidFill>
                <a:srgbClr val="14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6.95999999999998,&quot;left&quot;:51.839999999999996,&quot;top&quot;:106.55999999999999,&quot;width&quot;:884.1599212598425}"/>
</p:tagLst>
</file>

<file path=ppt/tags/tag2.xml><?xml version="1.0" encoding="utf-8"?>
<p:tagLst xmlns:p="http://schemas.openxmlformats.org/presentationml/2006/main">
  <p:tag name="KSO_WM_DIAGRAM_VIRTUALLY_FRAME" val="{&quot;height&quot;:156.95999999999998,&quot;left&quot;:51.839999999999996,&quot;top&quot;:106.55999999999999,&quot;width&quot;:884.1599212598425}"/>
</p:tagLst>
</file>

<file path=ppt/tags/tag3.xml><?xml version="1.0" encoding="utf-8"?>
<p:tagLst xmlns:p="http://schemas.openxmlformats.org/presentationml/2006/main">
  <p:tag name="KSO_WM_DIAGRAM_VIRTUALLY_FRAME" val="{&quot;height&quot;:156.95999999999998,&quot;left&quot;:51.839999999999996,&quot;top&quot;:106.55999999999999,&quot;width&quot;:884.1599212598425}"/>
</p:tagLst>
</file>

<file path=ppt/tags/tag4.xml><?xml version="1.0" encoding="utf-8"?>
<p:tagLst xmlns:p="http://schemas.openxmlformats.org/presentationml/2006/main">
  <p:tag name="KSO_WM_DIAGRAM_VIRTUALLY_FRAME" val="{&quot;height&quot;:156.95999999999998,&quot;left&quot;:51.839999999999996,&quot;top&quot;:106.55999999999999,&quot;width&quot;:884.1599212598425}"/>
</p:tagLst>
</file>

<file path=ppt/tags/tag5.xml><?xml version="1.0" encoding="utf-8"?>
<p:tagLst xmlns:p="http://schemas.openxmlformats.org/presentationml/2006/main">
  <p:tag name="KSO_WM_DIAGRAM_VIRTUALLY_FRAME" val="{&quot;height&quot;:156.95999999999998,&quot;left&quot;:51.839999999999996,&quot;top&quot;:106.55999999999999,&quot;width&quot;:884.1599212598425}"/>
</p:tagLst>
</file>

<file path=ppt/tags/tag6.xml><?xml version="1.0" encoding="utf-8"?>
<p:tagLst xmlns:p="http://schemas.openxmlformats.org/presentationml/2006/main">
  <p:tag name="KSO_WM_DIAGRAM_VIRTUALLY_FRAME" val="{&quot;height&quot;:156.95999999999998,&quot;left&quot;:51.839999999999996,&quot;top&quot;:106.55999999999999,&quot;width&quot;:884.1599212598425}"/>
</p:tagLst>
</file>

<file path=ppt/tags/tag7.xml><?xml version="1.0" encoding="utf-8"?>
<p:tagLst xmlns:p="http://schemas.openxmlformats.org/presentationml/2006/main">
  <p:tag name="KSO_WM_DIAGRAM_VIRTUALLY_FRAME" val="{&quot;height&quot;:156.95999999999998,&quot;left&quot;:51.839999999999996,&quot;top&quot;:106.55999999999999,&quot;width&quot;:884.1599212598425}"/>
</p:tagLst>
</file>

<file path=ppt/tags/tag8.xml><?xml version="1.0" encoding="utf-8"?>
<p:tagLst xmlns:p="http://schemas.openxmlformats.org/presentationml/2006/main">
  <p:tag name="KSO_WM_DIAGRAM_VIRTUALLY_FRAME" val="{&quot;height&quot;:156.95999999999998,&quot;left&quot;:51.839999999999996,&quot;top&quot;:106.55999999999999,&quot;width&quot;:884.1599212598425}"/>
</p:tagLst>
</file>

<file path=ppt/tags/tag9.xml><?xml version="1.0" encoding="utf-8"?>
<p:tagLst xmlns:p="http://schemas.openxmlformats.org/presentationml/2006/main">
  <p:tag name="KSO_WM_DIAGRAM_VIRTUALLY_FRAME" val="{&quot;height&quot;:156.95999999999998,&quot;left&quot;:51.839999999999996,&quot;top&quot;:106.55999999999999,&quot;width&quot;:884.1599212598425}"/>
</p:tagLst>
</file>

<file path=ppt/tags/tag10.xml><?xml version="1.0" encoding="utf-8"?>
<p:tagLst xmlns:p="http://schemas.openxmlformats.org/presentationml/2006/main">
  <p:tag name="KSO_WM_DIAGRAM_VIRTUALLY_FRAME" val="{&quot;height&quot;:156.95999999999998,&quot;left&quot;:51.839999999999996,&quot;top&quot;:106.55999999999999,&quot;width&quot;:884.1599212598425}"/>
</p:tagLst>
</file>

<file path=ppt/tags/tag11.xml><?xml version="1.0" encoding="utf-8"?>
<p:tagLst xmlns:p="http://schemas.openxmlformats.org/presentationml/2006/main">
  <p:tag name="KSO_WM_DIAGRAM_VIRTUALLY_FRAME" val="{&quot;height&quot;:156.95999999999998,&quot;left&quot;:51.839999999999996,&quot;top&quot;:106.55999999999999,&quot;width&quot;:884.1599212598425}"/>
</p:tagLst>
</file>

<file path=ppt/tags/tag12.xml><?xml version="1.0" encoding="utf-8"?>
<p:tagLst xmlns:p="http://schemas.openxmlformats.org/presentationml/2006/main">
  <p:tag name="KSO_WM_DIAGRAM_VIRTUALLY_FRAME" val="{&quot;height&quot;:156.95999999999998,&quot;left&quot;:51.839999999999996,&quot;top&quot;:106.55999999999999,&quot;width&quot;:884.1599212598425}"/>
</p:tagLst>
</file>

<file path=ppt/tags/tag13.xml><?xml version="1.0" encoding="utf-8"?>
<p:tagLst xmlns:p="http://schemas.openxmlformats.org/presentationml/2006/main">
  <p:tag name="KSO_WM_DIAGRAM_VIRTUALLY_FRAME" val="{&quot;height&quot;:156.95999999999998,&quot;left&quot;:51.839999999999996,&quot;top&quot;:106.55999999999999,&quot;width&quot;:884.1599212598425}"/>
</p:tagLst>
</file>

<file path=ppt/tags/tag14.xml><?xml version="1.0" encoding="utf-8"?>
<p:tagLst xmlns:p="http://schemas.openxmlformats.org/presentationml/2006/main">
  <p:tag name="KSO_WM_DIAGRAM_VIRTUALLY_FRAME" val="{&quot;height&quot;:156.95999999999998,&quot;left&quot;:51.839999999999996,&quot;top&quot;:106.55999999999999,&quot;width&quot;:884.1599212598425}"/>
</p:tagLst>
</file>

<file path=ppt/tags/tag15.xml><?xml version="1.0" encoding="utf-8"?>
<p:tagLst xmlns:p="http://schemas.openxmlformats.org/presentationml/2006/main">
  <p:tag name="KSO_WM_DIAGRAM_VIRTUALLY_FRAME" val="{&quot;height&quot;:156.95999999999998,&quot;left&quot;:51.839999999999996,&quot;top&quot;:106.55999999999999,&quot;width&quot;:884.1599212598425}"/>
</p:tagLst>
</file>

<file path=ppt/tags/tag16.xml><?xml version="1.0" encoding="utf-8"?>
<p:tagLst xmlns:p="http://schemas.openxmlformats.org/presentationml/2006/main">
  <p:tag name="KSO_WM_DIAGRAM_VIRTUALLY_FRAME" val="{&quot;height&quot;:153.45,&quot;left&quot;:54,&quot;top&quot;:97.2,&quot;width&quot;:846}"/>
</p:tagLst>
</file>

<file path=ppt/tags/tag17.xml><?xml version="1.0" encoding="utf-8"?>
<p:tagLst xmlns:p="http://schemas.openxmlformats.org/presentationml/2006/main">
  <p:tag name="KSO_WM_DIAGRAM_VIRTUALLY_FRAME" val="{&quot;height&quot;:153.45,&quot;left&quot;:54,&quot;top&quot;:97.2,&quot;width&quot;:846}"/>
</p:tagLst>
</file>

<file path=ppt/tags/tag18.xml><?xml version="1.0" encoding="utf-8"?>
<p:tagLst xmlns:p="http://schemas.openxmlformats.org/presentationml/2006/main">
  <p:tag name="KSO_WM_DIAGRAM_VIRTUALLY_FRAME" val="{&quot;height&quot;:153.45,&quot;left&quot;:54,&quot;top&quot;:97.2,&quot;width&quot;:846}"/>
</p:tagLst>
</file>

<file path=ppt/tags/tag19.xml><?xml version="1.0" encoding="utf-8"?>
<p:tagLst xmlns:p="http://schemas.openxmlformats.org/presentationml/2006/main">
  <p:tag name="KSO_WM_DIAGRAM_VIRTUALLY_FRAME" val="{&quot;height&quot;:153.45,&quot;left&quot;:54,&quot;top&quot;:97.2,&quot;width&quot;:846}"/>
</p:tagLst>
</file>

<file path=ppt/tags/tag20.xml><?xml version="1.0" encoding="utf-8"?>
<p:tagLst xmlns:p="http://schemas.openxmlformats.org/presentationml/2006/main">
  <p:tag name="KSO_WM_DIAGRAM_VIRTUALLY_FRAME" val="{&quot;height&quot;:153.45,&quot;left&quot;:54,&quot;top&quot;:97.2,&quot;width&quot;:846}"/>
</p:tagLst>
</file>

<file path=ppt/tags/tag21.xml><?xml version="1.0" encoding="utf-8"?>
<p:tagLst xmlns:p="http://schemas.openxmlformats.org/presentationml/2006/main">
  <p:tag name="KSO_WM_DIAGRAM_VIRTUALLY_FRAME" val="{&quot;height&quot;:153.45,&quot;left&quot;:54,&quot;top&quot;:97.2,&quot;width&quot;:846}"/>
</p:tagLst>
</file>

<file path=ppt/tags/tag22.xml><?xml version="1.0" encoding="utf-8"?>
<p:tagLst xmlns:p="http://schemas.openxmlformats.org/presentationml/2006/main">
  <p:tag name="KSO_WM_DIAGRAM_VIRTUALLY_FRAME" val="{&quot;height&quot;:153.45,&quot;left&quot;:54,&quot;top&quot;:97.2,&quot;width&quot;:846}"/>
</p:tagLst>
</file>

<file path=ppt/tags/tag23.xml><?xml version="1.0" encoding="utf-8"?>
<p:tagLst xmlns:p="http://schemas.openxmlformats.org/presentationml/2006/main">
  <p:tag name="KSO_WM_DIAGRAM_VIRTUALLY_FRAME" val="{&quot;height&quot;:153.45,&quot;left&quot;:54,&quot;top&quot;:97.2,&quot;width&quot;:846}"/>
</p:tagLst>
</file>

<file path=ppt/tags/tag24.xml><?xml version="1.0" encoding="utf-8"?>
<p:tagLst xmlns:p="http://schemas.openxmlformats.org/presentationml/2006/main">
  <p:tag name="KSO_WM_DIAGRAM_VIRTUALLY_FRAME" val="{&quot;height&quot;:153.45,&quot;left&quot;:54,&quot;top&quot;:97.2,&quot;width&quot;:846}"/>
</p:tagLst>
</file>

<file path=ppt/tags/tag25.xml><?xml version="1.0" encoding="utf-8"?>
<p:tagLst xmlns:p="http://schemas.openxmlformats.org/presentationml/2006/main">
  <p:tag name="KSO_WM_DIAGRAM_VIRTUALLY_FRAME" val="{&quot;height&quot;:153.45,&quot;left&quot;:54,&quot;top&quot;:97.2,&quot;width&quot;:846}"/>
</p:tagLst>
</file>

<file path=ppt/tags/tag26.xml><?xml version="1.0" encoding="utf-8"?>
<p:tagLst xmlns:p="http://schemas.openxmlformats.org/presentationml/2006/main">
  <p:tag name="KSO_WM_DIAGRAM_VIRTUALLY_FRAME" val="{&quot;height&quot;:153.45,&quot;left&quot;:54,&quot;top&quot;:97.2,&quot;width&quot;:846}"/>
</p:tagLst>
</file>

<file path=ppt/tags/tag27.xml><?xml version="1.0" encoding="utf-8"?>
<p:tagLst xmlns:p="http://schemas.openxmlformats.org/presentationml/2006/main">
  <p:tag name="KSO_WM_DIAGRAM_VIRTUALLY_FRAME" val="{&quot;height&quot;:153.45,&quot;left&quot;:54,&quot;top&quot;:97.2,&quot;width&quot;:846}"/>
</p:tagLst>
</file>

<file path=ppt/tags/tag28.xml><?xml version="1.0" encoding="utf-8"?>
<p:tagLst xmlns:p="http://schemas.openxmlformats.org/presentationml/2006/main">
  <p:tag name="KSO_WM_DIAGRAM_VIRTUALLY_FRAME" val="{&quot;height&quot;:153.45,&quot;left&quot;:54,&quot;top&quot;:97.2,&quot;width&quot;:846}"/>
</p:tagLst>
</file>

<file path=ppt/tags/tag29.xml><?xml version="1.0" encoding="utf-8"?>
<p:tagLst xmlns:p="http://schemas.openxmlformats.org/presentationml/2006/main">
  <p:tag name="KSO_WM_DIAGRAM_VIRTUALLY_FRAME" val="{&quot;height&quot;:153.45,&quot;left&quot;:54,&quot;top&quot;:97.2,&quot;width&quot;:846}"/>
</p:tagLst>
</file>

<file path=ppt/tags/tag30.xml><?xml version="1.0" encoding="utf-8"?>
<p:tagLst xmlns:p="http://schemas.openxmlformats.org/presentationml/2006/main">
  <p:tag name="KSO_WM_DIAGRAM_VIRTUALLY_FRAME" val="{&quot;height&quot;:153.45,&quot;left&quot;:54,&quot;top&quot;:97.2,&quot;width&quot;:846}"/>
</p:tagLst>
</file>

<file path=ppt/tags/tag31.xml><?xml version="1.0" encoding="utf-8"?>
<p:tagLst xmlns:p="http://schemas.openxmlformats.org/presentationml/2006/main">
  <p:tag name="KSO_WM_DIAGRAM_VIRTUALLY_FRAME" val="{&quot;height&quot;:153.45,&quot;left&quot;:54,&quot;top&quot;:97.2,&quot;width&quot;:846}"/>
</p:tagLst>
</file>

<file path=ppt/tags/tag32.xml><?xml version="1.0" encoding="utf-8"?>
<p:tagLst xmlns:p="http://schemas.openxmlformats.org/presentationml/2006/main">
  <p:tag name="KSO_WM_DIAGRAM_VIRTUALLY_FRAME" val="{&quot;height&quot;:153.45,&quot;left&quot;:54,&quot;top&quot;:97.2,&quot;width&quot;:846}"/>
</p:tagLst>
</file>

<file path=ppt/tags/tag33.xml><?xml version="1.0" encoding="utf-8"?>
<p:tagLst xmlns:p="http://schemas.openxmlformats.org/presentationml/2006/main">
  <p:tag name="KSO_WM_DIAGRAM_VIRTUALLY_FRAME" val="{&quot;height&quot;:153.45,&quot;left&quot;:54,&quot;top&quot;:97.2,&quot;width&quot;:846}"/>
</p:tagLst>
</file>

<file path=ppt/tags/tag34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35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36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37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38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39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40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41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42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43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44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45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46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47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48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49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50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51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52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53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54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55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56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57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58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59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60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61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62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63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64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65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66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67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68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69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70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71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72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73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74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75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76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77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78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79.xml><?xml version="1.0" encoding="utf-8"?>
<p:tagLst xmlns:p="http://schemas.openxmlformats.org/presentationml/2006/main">
  <p:tag name="KSO_WM_DIAGRAM_VIRTUALLY_FRAME" val="{&quot;height&quot;:77.75999999999999,&quot;left&quot;:51.839999999999996,&quot;top&quot;:365.76,&quot;width&quot;:797.04}"/>
</p:tagLst>
</file>

<file path=ppt/tags/tag80.xml><?xml version="1.0" encoding="utf-8"?>
<p:tagLst xmlns:p="http://schemas.openxmlformats.org/presentationml/2006/main">
  <p:tag name="KSO_WM_DIAGRAM_VIRTUALLY_FRAME" val="{&quot;height&quot;:77.75999999999999,&quot;left&quot;:51.839999999999996,&quot;top&quot;:365.76,&quot;width&quot;:797.04}"/>
</p:tagLst>
</file>

<file path=ppt/tags/tag81.xml><?xml version="1.0" encoding="utf-8"?>
<p:tagLst xmlns:p="http://schemas.openxmlformats.org/presentationml/2006/main">
  <p:tag name="KSO_WM_DIAGRAM_VIRTUALLY_FRAME" val="{&quot;height&quot;:370.79999999999995,&quot;left&quot;:39.6,&quot;top&quot;:87.84,&quot;width&quot;:885.6}"/>
</p:tagLst>
</file>

<file path=ppt/tags/tag82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83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84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85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86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87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88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89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90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91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92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93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94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95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96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97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98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ags/tag99.xml><?xml version="1.0" encoding="utf-8"?>
<p:tagLst xmlns:p="http://schemas.openxmlformats.org/presentationml/2006/main">
  <p:tag name="KSO_WM_DIAGRAM_VIRTUALLY_FRAME" val="{&quot;height&quot;:129.6,&quot;left&quot;:54,&quot;top&quot;:97.2,&quot;width&quot;:845.999921259842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3023</Words>
  <Application>WPS 演示</Application>
  <PresentationFormat>宽屏</PresentationFormat>
  <Paragraphs>379</Paragraphs>
  <Slides>18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Cambria Math</vt:lpstr>
      <vt:lpstr>MS Mincho</vt:lpstr>
      <vt:lpstr>Segoe Print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图南</cp:lastModifiedBy>
  <cp:revision>182</cp:revision>
  <dcterms:created xsi:type="dcterms:W3CDTF">2013-01-27T09:14:00Z</dcterms:created>
  <dcterms:modified xsi:type="dcterms:W3CDTF">2026-08-19T07:08:44Z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4F83BEF2F78F451EBBEEFDAB6F79316D_12</vt:lpwstr>
  </property>
  <property fmtid="{D5CDD505-2E9C-101B-9397-08002B2CF9AE}" pid="3" name="KSOProductBuildVer">
    <vt:lpwstr>2052-12.1.0.28043</vt:lpwstr>
  </property>
</Properties>
</file>