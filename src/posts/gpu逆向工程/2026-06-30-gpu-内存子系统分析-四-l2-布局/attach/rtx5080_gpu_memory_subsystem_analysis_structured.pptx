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256" r:id="rId3"/>
    <p:sldId id="258" r:id="rId5"/>
    <p:sldId id="260" r:id="rId6"/>
    <p:sldId id="302" r:id="rId7"/>
    <p:sldId id="262" r:id="rId8"/>
    <p:sldId id="263" r:id="rId9"/>
    <p:sldId id="267" r:id="rId10"/>
    <p:sldId id="268" r:id="rId11"/>
    <p:sldId id="269" r:id="rId12"/>
    <p:sldId id="270" r:id="rId13"/>
    <p:sldId id="271" r:id="rId14"/>
    <p:sldId id="272" r:id="rId15"/>
    <p:sldId id="293" r:id="rId16"/>
    <p:sldId id="274" r:id="rId17"/>
    <p:sldId id="298" r:id="rId18"/>
    <p:sldId id="275" r:id="rId19"/>
    <p:sldId id="282" r:id="rId20"/>
    <p:sldId id="28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08" userDrawn="1">
          <p15:clr>
            <a:srgbClr val="A4A3A4"/>
          </p15:clr>
        </p15:guide>
        <p15:guide id="2" pos="28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558" autoAdjust="0"/>
  </p:normalViewPr>
  <p:slideViewPr>
    <p:cSldViewPr snapToGrid="0" snapToObjects="1" showGuides="1">
      <p:cViewPr varScale="1">
        <p:scale>
          <a:sx n="94" d="100"/>
          <a:sy n="94" d="100"/>
        </p:scale>
        <p:origin x="474" y="90"/>
      </p:cViewPr>
      <p:guideLst>
        <p:guide orient="horz" pos="2108"/>
        <p:guide pos="286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规则</a:t>
            </a:r>
            <a:r>
              <a:rPr lang="zh-CN" altLang="en-US"/>
              <a:t>说明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52A92-F717-4508-974F-7ABB76031519}" type="datetime1">
              <a:rPr lang="en-US" altLang="zh-C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73FE1-0CAA-4C41-8CB5-86D88930471D}" type="datetime1">
              <a:rPr lang="en-US" altLang="zh-C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413BDC-7F04-4857-A2CF-003AC9E9CDC8}" type="datetime1">
              <a:rPr lang="en-US" altLang="zh-C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5BDE8-09BA-47BD-B5E9-8C907FA280DB}" type="datetime1">
              <a:rPr lang="en-US" altLang="zh-C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CED1D-47BB-4CEC-A6B1-5084939EE015}" type="datetime1">
              <a:rPr lang="en-US" altLang="zh-CN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7499C-BEFD-433B-AE96-1E8102E96ECA}" type="datetime1">
              <a:rPr lang="en-US" altLang="zh-CN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05FDC-E27E-4557-9734-32B2D365686E}" type="datetime1">
              <a:rPr lang="en-US" altLang="zh-CN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0BB36B-1DE0-4DD3-A4A1-CF71ACBE4EBB}" type="datetime1">
              <a:rPr lang="en-US" altLang="zh-C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3C597-F21F-4A69-80C8-D27A60A197FD}" type="datetime1">
              <a:rPr lang="en-US" altLang="zh-CN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3DE9F-2EFE-4E2F-84A8-AEED1D7322F8}" type="datetime1">
              <a:rPr lang="en-US" altLang="zh-C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5E073-8D80-4876-B539-B9CAAE646A16}" type="datetime1">
              <a:rPr lang="en-US" altLang="zh-C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9B3399-505C-4414-9FC2-2BC5DE1054D8}" type="datetime1">
              <a:rPr lang="en-US" altLang="zh-CN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7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tags" Target="../tags/tag28.xml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2" Type="http://schemas.openxmlformats.org/officeDocument/2006/relationships/notesSlide" Target="../notesSlides/notesSlide6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1" Type="http://schemas.openxmlformats.org/officeDocument/2006/relationships/tags" Target="../tags/tag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2" Type="http://schemas.openxmlformats.org/officeDocument/2006/relationships/notesSlide" Target="../notesSlides/notesSlide10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10.png"/><Relationship Id="rId1" Type="http://schemas.openxmlformats.org/officeDocument/2006/relationships/tags" Target="../tags/tag3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tags" Target="../tags/tag46.xml"/><Relationship Id="rId5" Type="http://schemas.openxmlformats.org/officeDocument/2006/relationships/tags" Target="../tags/tag45.xml"/><Relationship Id="rId4" Type="http://schemas.openxmlformats.org/officeDocument/2006/relationships/tags" Target="../tags/tag44.xml"/><Relationship Id="rId3" Type="http://schemas.openxmlformats.org/officeDocument/2006/relationships/tags" Target="../tags/tag43.xml"/><Relationship Id="rId2" Type="http://schemas.openxmlformats.org/officeDocument/2006/relationships/image" Target="../media/image12.png"/><Relationship Id="rId13" Type="http://schemas.openxmlformats.org/officeDocument/2006/relationships/notesSlide" Target="../notesSlides/notesSlide11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51.xml"/><Relationship Id="rId10" Type="http://schemas.openxmlformats.org/officeDocument/2006/relationships/tags" Target="../tags/tag50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58.xml"/><Relationship Id="rId8" Type="http://schemas.openxmlformats.org/officeDocument/2006/relationships/tags" Target="../tags/tag57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tags" Target="../tags/tag52.xml"/><Relationship Id="rId2" Type="http://schemas.openxmlformats.org/officeDocument/2006/relationships/image" Target="../media/image14.png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7.xml"/><Relationship Id="rId11" Type="http://schemas.openxmlformats.org/officeDocument/2006/relationships/tags" Target="../tags/tag60.xml"/><Relationship Id="rId10" Type="http://schemas.openxmlformats.org/officeDocument/2006/relationships/tags" Target="../tags/tag59.xml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8.xml"/><Relationship Id="rId8" Type="http://schemas.openxmlformats.org/officeDocument/2006/relationships/tags" Target="../tags/tag67.xml"/><Relationship Id="rId7" Type="http://schemas.openxmlformats.org/officeDocument/2006/relationships/tags" Target="../tags/tag66.xml"/><Relationship Id="rId6" Type="http://schemas.openxmlformats.org/officeDocument/2006/relationships/tags" Target="../tags/tag65.xml"/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69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77.xml"/><Relationship Id="rId8" Type="http://schemas.openxmlformats.org/officeDocument/2006/relationships/tags" Target="../tags/tag76.xml"/><Relationship Id="rId7" Type="http://schemas.openxmlformats.org/officeDocument/2006/relationships/tags" Target="../tags/tag75.xml"/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4" Type="http://schemas.openxmlformats.org/officeDocument/2006/relationships/notesSlide" Target="../notesSlides/notesSlide14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8.png"/><Relationship Id="rId11" Type="http://schemas.openxmlformats.org/officeDocument/2006/relationships/image" Target="../media/image17.png"/><Relationship Id="rId10" Type="http://schemas.openxmlformats.org/officeDocument/2006/relationships/tags" Target="../tags/tag78.xml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81.xml"/><Relationship Id="rId3" Type="http://schemas.openxmlformats.org/officeDocument/2006/relationships/image" Target="../media/image19.png"/><Relationship Id="rId2" Type="http://schemas.openxmlformats.org/officeDocument/2006/relationships/tags" Target="../tags/tag80.xml"/><Relationship Id="rId1" Type="http://schemas.openxmlformats.org/officeDocument/2006/relationships/tags" Target="../tags/tag7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2" Type="http://schemas.openxmlformats.org/officeDocument/2006/relationships/notesSlide" Target="../notesSlides/notesSlide16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20.png"/><Relationship Id="rId1" Type="http://schemas.openxmlformats.org/officeDocument/2006/relationships/tags" Target="../tags/tag82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2" Type="http://schemas.openxmlformats.org/officeDocument/2006/relationships/notesSlide" Target="../notesSlides/notesSlide1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99.xml"/><Relationship Id="rId1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236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84502"/>
            <a:ext cx="10195560" cy="8686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143052"/>
                </a:solidFill>
                <a:latin typeface="微软雅黑" panose="020B0503020204020204" charset="-122"/>
              </a:rPr>
              <a:t>RTX 5080 GPU</a:t>
            </a:r>
            <a:endParaRPr sz="36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89965" y="2780030"/>
            <a:ext cx="10165715" cy="6629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143052"/>
                </a:solidFill>
                <a:latin typeface="微软雅黑" panose="020B0503020204020204" charset="-122"/>
              </a:rPr>
              <a:t>逆向分析</a:t>
            </a:r>
            <a:endParaRPr sz="36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987552" y="4096512"/>
            <a:ext cx="5596128" cy="0"/>
          </a:xfrm>
          <a:prstGeom prst="line">
            <a:avLst/>
          </a:prstGeom>
          <a:ln w="30480">
            <a:solidFill>
              <a:srgbClr val="009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87552" y="4443984"/>
            <a:ext cx="9784080" cy="512064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677584"/>
                </a:solidFill>
                <a:latin typeface="微软雅黑" panose="020B0503020204020204" charset="-122"/>
              </a:rPr>
              <a:t>基于 NVIDIA Blackwell 官方架构白皮书与本地微基准实验结果</a:t>
            </a:r>
            <a:endParaRPr sz="14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43052"/>
                </a:solidFill>
                <a:latin typeface="微软雅黑" panose="020B0503020204020204" charset="-122"/>
              </a:rPr>
              <a:t>RTX 5080 官方硬件背景</a:t>
            </a:r>
            <a:endParaRPr sz="2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02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474835" y="1388745"/>
            <a:ext cx="2247900" cy="4578985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800" y="2183765"/>
            <a:ext cx="2045970" cy="37096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lang="en-US"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RTX 5080 </a:t>
            </a:r>
            <a:r>
              <a:rPr sz="1200" b="1" i="0" dirty="0" err="1">
                <a:solidFill>
                  <a:srgbClr val="143052"/>
                </a:solidFill>
                <a:latin typeface="微软雅黑" panose="020B0503020204020204" charset="-122"/>
              </a:rPr>
              <a:t>官方规格</a:t>
            </a:r>
            <a:r>
              <a:rPr sz="1200" b="1" i="0" dirty="0">
                <a:solidFill>
                  <a:srgbClr val="143052"/>
                </a:solidFill>
                <a:latin typeface="微软雅黑" panose="020B0503020204020204" charset="-122"/>
              </a:rPr>
              <a:t>：</a:t>
            </a:r>
            <a:endParaRPr sz="1200" b="1" i="0" dirty="0">
              <a:solidFill>
                <a:srgbClr val="143052"/>
              </a:solidFill>
              <a:latin typeface="微软雅黑" panose="020B0503020204020204" charset="-122"/>
            </a:endParaRPr>
          </a:p>
          <a:p>
            <a:pPr algn="l"/>
            <a:endParaRPr sz="1200" b="1" i="0" dirty="0">
              <a:solidFill>
                <a:srgbClr val="143052"/>
              </a:solidFill>
              <a:latin typeface="微软雅黑" panose="020B0503020204020204" charset="-122"/>
            </a:endParaRPr>
          </a:p>
          <a:p>
            <a:pPr algn="l"/>
            <a:r>
              <a:rPr sz="1200" b="1" i="0" dirty="0">
                <a:solidFill>
                  <a:srgbClr val="143052"/>
                </a:solidFill>
                <a:latin typeface="微软雅黑" panose="020B0503020204020204" charset="-122"/>
              </a:rPr>
              <a:t>7 GPC｜42 TPC｜84 SM
</a:t>
            </a:r>
            <a:endParaRPr sz="1200" b="1" i="0" dirty="0">
              <a:solidFill>
                <a:srgbClr val="143052"/>
              </a:solidFill>
              <a:latin typeface="微软雅黑" panose="020B0503020204020204" charset="-122"/>
            </a:endParaRPr>
          </a:p>
          <a:p>
            <a:pPr algn="l"/>
            <a:r>
              <a:rPr sz="1200" b="1" i="0" dirty="0">
                <a:solidFill>
                  <a:srgbClr val="143052"/>
                </a:solidFill>
                <a:latin typeface="微软雅黑" panose="020B0503020204020204" charset="-122"/>
              </a:rPr>
              <a:t>16 GB GDDR7｜960 GB/s</a:t>
            </a:r>
            <a:endParaRPr sz="1200" b="1" i="0" dirty="0">
              <a:solidFill>
                <a:srgbClr val="143052"/>
              </a:solidFill>
              <a:latin typeface="微软雅黑" panose="020B0503020204020204" charset="-122"/>
            </a:endParaRPr>
          </a:p>
          <a:p>
            <a:pPr algn="l"/>
            <a:endParaRPr sz="1200" b="1" i="0" dirty="0">
              <a:solidFill>
                <a:srgbClr val="143052"/>
              </a:solidFill>
              <a:latin typeface="微软雅黑" panose="020B0503020204020204" charset="-122"/>
            </a:endParaRPr>
          </a:p>
          <a:p>
            <a:pPr algn="l"/>
            <a:r>
              <a:rPr sz="1200" b="1" i="0" dirty="0">
                <a:solidFill>
                  <a:srgbClr val="143052"/>
                </a:solidFill>
                <a:latin typeface="微软雅黑" panose="020B0503020204020204" charset="-122"/>
              </a:rPr>
              <a:t>64 MiB L2</a:t>
            </a:r>
            <a:r>
              <a:rPr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｜</a:t>
            </a:r>
            <a:r>
              <a:rPr lang="en-US"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128 KiB L1/SM </a:t>
            </a:r>
            <a:endParaRPr lang="en-US" sz="1200" b="1" dirty="0">
              <a:solidFill>
                <a:srgbClr val="143052"/>
              </a:solidFill>
              <a:latin typeface="微软雅黑" panose="020B0503020204020204" charset="-122"/>
              <a:sym typeface="+mn-ea"/>
            </a:endParaRPr>
          </a:p>
          <a:p>
            <a:pPr algn="l"/>
            <a:endParaRPr lang="en-US" sz="1200" b="1" i="0" dirty="0">
              <a:solidFill>
                <a:srgbClr val="143052"/>
              </a:solidFill>
              <a:latin typeface="微软雅黑" panose="020B0503020204020204" charset="-122"/>
              <a:sym typeface="+mn-ea"/>
            </a:endParaRPr>
          </a:p>
          <a:p>
            <a:pPr algn="l"/>
            <a:r>
              <a:rPr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10,752 </a:t>
            </a:r>
            <a:r>
              <a:rPr lang="en-US"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FP32 </a:t>
            </a:r>
            <a:r>
              <a:rPr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CUDA Core｜</a:t>
            </a:r>
            <a:r>
              <a:rPr lang="en-US" sz="12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 56. 3 Peak FP32 TFLOPS (non-Tensor)</a:t>
            </a:r>
            <a:endParaRPr sz="1200" b="1" i="0" dirty="0">
              <a:solidFill>
                <a:srgbClr val="143052"/>
              </a:solidFill>
              <a:latin typeface="微软雅黑" panose="020B0503020204020204" charset="-122"/>
            </a:endParaRPr>
          </a:p>
          <a:p>
            <a:pPr algn="l"/>
            <a:endParaRPr lang="en-US" sz="1200" b="1" i="0" dirty="0">
              <a:solidFill>
                <a:srgbClr val="143052"/>
              </a:solidFill>
              <a:latin typeface="微软雅黑" panose="020B0503020204020204" charset="-122"/>
              <a:sym typeface="+mn-ea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0352" y="6519672"/>
            <a:ext cx="8046720" cy="1645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750" b="0" i="0">
                <a:solidFill>
                  <a:srgbClr val="677584"/>
                </a:solidFill>
                <a:latin typeface="微软雅黑" panose="020B0503020204020204" charset="-122"/>
              </a:rPr>
              <a:t>来源：NVIDIA RTX Blackwell GPU Architecture Whitepaper，第 49–51 页</a:t>
            </a:r>
            <a:endParaRPr sz="75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010" y="1019175"/>
            <a:ext cx="4319905" cy="5170805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315" y="1122680"/>
            <a:ext cx="4287520" cy="5067300"/>
          </a:xfrm>
          <a:prstGeom prst="rect">
            <a:avLst/>
          </a:prstGeom>
        </p:spPr>
      </p:pic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43052"/>
                </a:solidFill>
                <a:latin typeface="微软雅黑" panose="020B0503020204020204" charset="-122"/>
              </a:rPr>
              <a:t>实验方法框架</a:t>
            </a:r>
            <a:endParaRPr sz="2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04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>
            <p:custDataLst>
              <p:tags r:id="rId1"/>
            </p:custDataLst>
          </p:nvPr>
        </p:nvSpPr>
        <p:spPr>
          <a:xfrm>
            <a:off x="658368" y="1353312"/>
            <a:ext cx="2084831" cy="1993392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>
            <p:custDataLst>
              <p:tags r:id="rId2"/>
            </p:custDataLst>
          </p:nvPr>
        </p:nvSpPr>
        <p:spPr>
          <a:xfrm>
            <a:off x="822959" y="1481328"/>
            <a:ext cx="1755648" cy="302895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500" b="1" dirty="0">
                <a:solidFill>
                  <a:srgbClr val="143052"/>
                </a:solidFill>
                <a:latin typeface="微软雅黑" panose="020B0503020204020204" charset="-122"/>
              </a:rPr>
              <a:t>1  </a:t>
            </a:r>
            <a:r>
              <a:rPr sz="1500" b="1" dirty="0" err="1">
                <a:solidFill>
                  <a:srgbClr val="143052"/>
                </a:solidFill>
                <a:latin typeface="微软雅黑" panose="020B0503020204020204" charset="-122"/>
              </a:rPr>
              <a:t>构造微基准</a:t>
            </a:r>
            <a:endParaRPr sz="1500" b="1" dirty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>
            <p:custDataLst>
              <p:tags r:id="rId3"/>
            </p:custDataLst>
          </p:nvPr>
        </p:nvSpPr>
        <p:spPr>
          <a:xfrm>
            <a:off x="822959" y="1792224"/>
            <a:ext cx="1755648" cy="672465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依赖地址链、顺序合并访问、冷热数据流、读改写负载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>
            <p:custDataLst>
              <p:tags r:id="rId4"/>
            </p:custDataLst>
          </p:nvPr>
        </p:nvSpPr>
        <p:spPr>
          <a:xfrm>
            <a:off x="2944368" y="1353312"/>
            <a:ext cx="2084831" cy="1993392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>
            <p:custDataLst>
              <p:tags r:id="rId5"/>
            </p:custDataLst>
          </p:nvPr>
        </p:nvSpPr>
        <p:spPr>
          <a:xfrm>
            <a:off x="3108960" y="1481328"/>
            <a:ext cx="1755648" cy="302895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500" b="1">
                <a:solidFill>
                  <a:srgbClr val="00928E"/>
                </a:solidFill>
                <a:latin typeface="微软雅黑" panose="020B0503020204020204" charset="-122"/>
              </a:rPr>
              <a:t>2  隔离目标层级</a:t>
            </a:r>
            <a:endParaRPr sz="1500" b="1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>
            <p:custDataLst>
              <p:tags r:id="rId6"/>
            </p:custDataLst>
          </p:nvPr>
        </p:nvSpPr>
        <p:spPr>
          <a:xfrm>
            <a:off x="3108960" y="1792224"/>
            <a:ext cx="1755648" cy="87249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用访问指令、工作集大小及独立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/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共享数据区控制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L1、L2、DRAM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49" name="Rounded Rectangle 48"/>
          <p:cNvSpPr/>
          <p:nvPr>
            <p:custDataLst>
              <p:tags r:id="rId7"/>
            </p:custDataLst>
          </p:nvPr>
        </p:nvSpPr>
        <p:spPr>
          <a:xfrm>
            <a:off x="5230368" y="1353312"/>
            <a:ext cx="2084831" cy="1993392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>
            <p:custDataLst>
              <p:tags r:id="rId8"/>
            </p:custDataLst>
          </p:nvPr>
        </p:nvSpPr>
        <p:spPr>
          <a:xfrm>
            <a:off x="5394959" y="1481328"/>
            <a:ext cx="1755648" cy="302895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500" b="1">
                <a:solidFill>
                  <a:srgbClr val="E07E2D"/>
                </a:solidFill>
                <a:latin typeface="微软雅黑" panose="020B0503020204020204" charset="-122"/>
              </a:rPr>
              <a:t>3  扫描关键变量</a:t>
            </a:r>
            <a:endParaRPr sz="1500" b="1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>
            <p:custDataLst>
              <p:tags r:id="rId9"/>
            </p:custDataLst>
          </p:nvPr>
        </p:nvSpPr>
        <p:spPr>
          <a:xfrm>
            <a:off x="5394959" y="1792224"/>
            <a:ext cx="1755648" cy="87249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改变工作集、访问步长、线程与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block、读写比例、地址探针和算术强度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52" name="Rounded Rectangle 51"/>
          <p:cNvSpPr/>
          <p:nvPr>
            <p:custDataLst>
              <p:tags r:id="rId10"/>
            </p:custDataLst>
          </p:nvPr>
        </p:nvSpPr>
        <p:spPr>
          <a:xfrm>
            <a:off x="7516368" y="1353312"/>
            <a:ext cx="2084831" cy="1993392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>
            <p:custDataLst>
              <p:tags r:id="rId11"/>
            </p:custDataLst>
          </p:nvPr>
        </p:nvSpPr>
        <p:spPr>
          <a:xfrm>
            <a:off x="7680960" y="1481328"/>
            <a:ext cx="1755648" cy="302895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500" b="1">
                <a:solidFill>
                  <a:srgbClr val="143052"/>
                </a:solidFill>
                <a:latin typeface="微软雅黑" panose="020B0503020204020204" charset="-122"/>
              </a:rPr>
              <a:t>4  设置对照实验</a:t>
            </a:r>
            <a:endParaRPr sz="1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>
            <p:custDataLst>
              <p:tags r:id="rId12"/>
            </p:custDataLst>
          </p:nvPr>
        </p:nvSpPr>
        <p:spPr>
          <a:xfrm>
            <a:off x="7680960" y="1792224"/>
            <a:ext cx="1755648" cy="87249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比较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scalar/float4、默认/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Persisting、不同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cache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policy、地址与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SM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>
            <p:custDataLst>
              <p:tags r:id="rId13"/>
            </p:custDataLst>
          </p:nvPr>
        </p:nvSpPr>
        <p:spPr>
          <a:xfrm>
            <a:off x="9802368" y="1353312"/>
            <a:ext cx="2084831" cy="1993392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>
            <p:custDataLst>
              <p:tags r:id="rId14"/>
            </p:custDataLst>
          </p:nvPr>
        </p:nvSpPr>
        <p:spPr>
          <a:xfrm>
            <a:off x="9966960" y="1481328"/>
            <a:ext cx="1755648" cy="302895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500" b="1">
                <a:solidFill>
                  <a:srgbClr val="00928E"/>
                </a:solidFill>
                <a:latin typeface="微软雅黑" panose="020B0503020204020204" charset="-122"/>
              </a:rPr>
              <a:t>5  分析结构规律</a:t>
            </a:r>
            <a:endParaRPr sz="1500" b="1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>
            <p:custDataLst>
              <p:tags r:id="rId15"/>
            </p:custDataLst>
          </p:nvPr>
        </p:nvSpPr>
        <p:spPr>
          <a:xfrm>
            <a:off x="9966960" y="1792224"/>
            <a:ext cx="1755648" cy="87249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观察延迟平台、峰值带宽、容量转折、热力图、聚类与模型拟合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81888" y="3977639"/>
            <a:ext cx="106984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7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7920" y="4224528"/>
            <a:ext cx="10149840" cy="566928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spAutoFit/>
          </a:bodyPr>
          <a:lstStyle/>
          <a:p>
            <a:pPr algn="l"/>
            <a:r>
              <a:rPr b="1" dirty="0" err="1">
                <a:solidFill>
                  <a:srgbClr val="143052"/>
                </a:solidFill>
                <a:latin typeface="微软雅黑" panose="020B0503020204020204" charset="-122"/>
              </a:rPr>
              <a:t>通过可控微基准逐项改变访存模式和资源压力，从性能曲线反推出内存层级特征</a:t>
            </a:r>
            <a:r>
              <a:rPr b="1" dirty="0">
                <a:solidFill>
                  <a:srgbClr val="143052"/>
                </a:solidFill>
                <a:latin typeface="微软雅黑" panose="020B0503020204020204" charset="-122"/>
              </a:rPr>
              <a:t>。</a:t>
            </a:r>
            <a:endParaRPr b="1" dirty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55040" y="5440680"/>
            <a:ext cx="10515600" cy="347472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300" b="1">
                <a:solidFill>
                  <a:srgbClr val="00928E"/>
                </a:solidFill>
                <a:latin typeface="微软雅黑" panose="020B0503020204020204" charset="-122"/>
              </a:rPr>
              <a:t>共同原则：一次只改变少量关键变量，并用对照组验证观察到的性能转折。</a:t>
            </a:r>
            <a:endParaRPr sz="1300" b="1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2500" b="1" i="0" dirty="0" err="1">
                <a:solidFill>
                  <a:srgbClr val="143052"/>
                </a:solidFill>
                <a:latin typeface="微软雅黑" panose="020B0503020204020204" charset="-122"/>
              </a:rPr>
              <a:t>测试点一：内存层级延迟</a:t>
            </a:r>
            <a:endParaRPr sz="2500" b="1" i="0" dirty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05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18413" y="4160520"/>
            <a:ext cx="899922" cy="0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18335" y="382219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8335" y="4023360"/>
            <a:ext cx="1051560" cy="3092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43052"/>
                </a:solidFill>
                <a:latin typeface="微软雅黑" panose="020B0503020204020204" charset="-122"/>
              </a:rPr>
              <a:t>地址 A</a:t>
            </a:r>
            <a:endParaRPr sz="13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250055" y="382219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0055" y="4023360"/>
            <a:ext cx="1051560" cy="3092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43052"/>
                </a:solidFill>
                <a:latin typeface="微软雅黑" panose="020B0503020204020204" charset="-122"/>
              </a:rPr>
              <a:t>地址 B</a:t>
            </a:r>
            <a:endParaRPr sz="13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581774" y="382219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1774" y="4023360"/>
            <a:ext cx="1051560" cy="3092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43052"/>
                </a:solidFill>
                <a:latin typeface="微软雅黑" panose="020B0503020204020204" charset="-122"/>
              </a:rPr>
              <a:t>地址 C</a:t>
            </a:r>
            <a:endParaRPr sz="13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913495" y="3822191"/>
            <a:ext cx="10515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3495" y="4023360"/>
            <a:ext cx="1051560" cy="3092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43052"/>
                </a:solidFill>
                <a:latin typeface="微软雅黑" panose="020B0503020204020204" charset="-122"/>
              </a:rPr>
              <a:t>地址 D</a:t>
            </a:r>
            <a:endParaRPr sz="13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61135" y="5074920"/>
            <a:ext cx="760476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800" b="1" i="0">
                <a:solidFill>
                  <a:srgbClr val="143052"/>
                </a:solidFill>
                <a:latin typeface="微软雅黑" panose="020B0503020204020204" charset="-122"/>
              </a:rPr>
              <a:t>下一次加载地址依赖上一次返回值，阻止硬件通过并行访存隐藏延迟。</a:t>
            </a:r>
            <a:endParaRPr sz="18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14"/>
          <p:cNvCxnSpPr/>
          <p:nvPr/>
        </p:nvCxnSpPr>
        <p:spPr>
          <a:xfrm>
            <a:off x="2969895" y="4160520"/>
            <a:ext cx="1280160" cy="0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14"/>
          <p:cNvCxnSpPr/>
          <p:nvPr/>
        </p:nvCxnSpPr>
        <p:spPr>
          <a:xfrm>
            <a:off x="5301615" y="4165600"/>
            <a:ext cx="1280160" cy="0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4"/>
          <p:cNvCxnSpPr/>
          <p:nvPr/>
        </p:nvCxnSpPr>
        <p:spPr>
          <a:xfrm>
            <a:off x="7633335" y="4163060"/>
            <a:ext cx="1280160" cy="0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14"/>
          <p:cNvCxnSpPr/>
          <p:nvPr/>
        </p:nvCxnSpPr>
        <p:spPr>
          <a:xfrm flipV="1">
            <a:off x="9965055" y="4163060"/>
            <a:ext cx="928370" cy="5080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  <p:sp>
        <p:nvSpPr>
          <p:cNvPr id="39" name="Rounded Rectangle 5"/>
          <p:cNvSpPr/>
          <p:nvPr>
            <p:custDataLst>
              <p:tags r:id="rId1"/>
            </p:custDataLst>
          </p:nvPr>
        </p:nvSpPr>
        <p:spPr>
          <a:xfrm>
            <a:off x="685800" y="1234440"/>
            <a:ext cx="3246120" cy="1948815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6"/>
          <p:cNvSpPr txBox="1"/>
          <p:nvPr>
            <p:custDataLst>
              <p:tags r:id="rId2"/>
            </p:custDataLst>
          </p:nvPr>
        </p:nvSpPr>
        <p:spPr>
          <a:xfrm>
            <a:off x="93268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41" name="TextBox 7"/>
          <p:cNvSpPr txBox="1"/>
          <p:nvPr>
            <p:custDataLst>
              <p:tags r:id="rId3"/>
            </p:custDataLst>
          </p:nvPr>
        </p:nvSpPr>
        <p:spPr>
          <a:xfrm>
            <a:off x="932688" y="1874519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lang="zh-CN" altLang="en-US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测量 </a:t>
            </a:r>
            <a:r>
              <a:rPr lang="en-US" altLang="zh-CN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L1</a:t>
            </a:r>
            <a:r>
              <a:rPr lang="zh-CN" altLang="en-US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L2</a:t>
            </a:r>
            <a:r>
              <a:rPr lang="zh-CN" altLang="en-US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en-US" altLang="zh-CN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DRAM </a:t>
            </a:r>
            <a:r>
              <a:rPr lang="zh-CN" altLang="en-US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的真实依赖访问延迟</a:t>
            </a:r>
            <a:endParaRPr lang="zh-CN" altLang="en-US" sz="1300" i="0" dirty="0">
              <a:solidFill>
                <a:srgbClr val="222D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ounded Rectangle 8"/>
          <p:cNvSpPr/>
          <p:nvPr>
            <p:custDataLst>
              <p:tags r:id="rId4"/>
            </p:custDataLst>
          </p:nvPr>
        </p:nvSpPr>
        <p:spPr>
          <a:xfrm>
            <a:off x="4434840" y="1234440"/>
            <a:ext cx="3246120" cy="1948815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9"/>
          <p:cNvSpPr txBox="1"/>
          <p:nvPr>
            <p:custDataLst>
              <p:tags r:id="rId5"/>
            </p:custDataLst>
          </p:nvPr>
        </p:nvSpPr>
        <p:spPr>
          <a:xfrm>
            <a:off x="468172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44" name="TextBox 10"/>
          <p:cNvSpPr txBox="1"/>
          <p:nvPr>
            <p:custDataLst>
              <p:tags r:id="rId6"/>
            </p:custDataLst>
          </p:nvPr>
        </p:nvSpPr>
        <p:spPr>
          <a:xfrm>
            <a:off x="4681855" y="1874520"/>
            <a:ext cx="2697480" cy="7029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r>
              <a:rPr lang="zh-CN" altLang="en-US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构造严格依赖的随机 </a:t>
            </a:r>
            <a:r>
              <a:rPr lang="en-US" altLang="zh-CN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pointer chain</a:t>
            </a:r>
            <a:r>
              <a:rPr lang="zh-CN" altLang="en-US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，使下一次加载依赖上一次返回值；逐步扩大工作集，观察延迟平台变化。</a:t>
            </a:r>
            <a:endParaRPr lang="zh-CN" altLang="en-US" sz="1300" dirty="0">
              <a:solidFill>
                <a:srgbClr val="222D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ounded Rectangle 11"/>
          <p:cNvSpPr/>
          <p:nvPr>
            <p:custDataLst>
              <p:tags r:id="rId7"/>
            </p:custDataLst>
          </p:nvPr>
        </p:nvSpPr>
        <p:spPr>
          <a:xfrm>
            <a:off x="8183880" y="1234440"/>
            <a:ext cx="3246120" cy="1948815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2"/>
          <p:cNvSpPr txBox="1"/>
          <p:nvPr>
            <p:custDataLst>
              <p:tags r:id="rId8"/>
            </p:custDataLst>
          </p:nvPr>
        </p:nvSpPr>
        <p:spPr>
          <a:xfrm>
            <a:off x="843076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47" name="TextBox 13"/>
          <p:cNvSpPr txBox="1"/>
          <p:nvPr>
            <p:custDataLst>
              <p:tags r:id="rId9"/>
            </p:custDataLst>
          </p:nvPr>
        </p:nvSpPr>
        <p:spPr>
          <a:xfrm>
            <a:off x="8430768" y="1874519"/>
            <a:ext cx="2697480" cy="51090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lang="zh-CN" altLang="en-US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曲线出现多个延迟平台，对应缓存命中到 </a:t>
            </a:r>
            <a:r>
              <a:rPr lang="en-US" altLang="zh-CN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DRAM </a:t>
            </a:r>
            <a:r>
              <a:rPr lang="zh-CN" altLang="en-US" sz="1300" i="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</a:rPr>
              <a:t>的层级切换</a:t>
            </a:r>
            <a:endParaRPr lang="zh-CN" altLang="en-US" sz="1300" i="0" dirty="0">
              <a:solidFill>
                <a:srgbClr val="222D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06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03905" y="5532120"/>
            <a:ext cx="2026920" cy="305435"/>
          </a:xfrm>
          <a:prstGeom prst="roundRect">
            <a:avLst>
              <a:gd name="adj" fmla="val 8000"/>
            </a:avLst>
          </a:prstGeom>
          <a:solidFill>
            <a:srgbClr val="00928E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4550" y="5540375"/>
            <a:ext cx="187325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L1</a:t>
            </a:r>
            <a:r>
              <a:rPr lang="zh-CN" sz="1300" b="1" i="0">
                <a:solidFill>
                  <a:srgbClr val="FFFFFF"/>
                </a:solidFill>
                <a:latin typeface="微软雅黑" panose="020B0503020204020204" charset="-122"/>
              </a:rPr>
              <a:t>：</a:t>
            </a: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43</a:t>
            </a:r>
            <a:r>
              <a:rPr lang="en-US" sz="1300" b="1" i="0">
                <a:solidFill>
                  <a:srgbClr val="FFFFFF"/>
                </a:solidFill>
                <a:latin typeface="微软雅黑" panose="020B0503020204020204" charset="-122"/>
              </a:rPr>
              <a:t> cycles</a:t>
            </a:r>
            <a:endParaRPr lang="en-US"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8940" y="5532120"/>
            <a:ext cx="2013585" cy="300355"/>
          </a:xfrm>
          <a:prstGeom prst="roundRect">
            <a:avLst>
              <a:gd name="adj" fmla="val 8000"/>
            </a:avLst>
          </a:prstGeom>
          <a:solidFill>
            <a:srgbClr val="2670B1"/>
          </a:solidFill>
          <a:ln>
            <a:solidFill>
              <a:srgbClr val="267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49900" y="5540375"/>
            <a:ext cx="1878965" cy="2692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L2</a:t>
            </a:r>
            <a:r>
              <a:rPr lang="zh-CN" sz="1300" b="1" i="0">
                <a:solidFill>
                  <a:srgbClr val="FFFFFF"/>
                </a:solidFill>
                <a:latin typeface="微软雅黑" panose="020B0503020204020204" charset="-122"/>
              </a:rPr>
              <a:t>：</a:t>
            </a: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 366</a:t>
            </a:r>
            <a:r>
              <a:rPr lang="en-US" sz="1300" b="1" i="0">
                <a:solidFill>
                  <a:srgbClr val="FFFFFF"/>
                </a:solidFill>
                <a:latin typeface="微软雅黑" panose="020B0503020204020204" charset="-122"/>
              </a:rPr>
              <a:t> cycles</a:t>
            </a:r>
            <a:endParaRPr lang="en-US"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679690" y="5532120"/>
            <a:ext cx="2045335" cy="292735"/>
          </a:xfrm>
          <a:prstGeom prst="roundRect">
            <a:avLst>
              <a:gd name="adj" fmla="val 8000"/>
            </a:avLst>
          </a:prstGeom>
          <a:solidFill>
            <a:srgbClr val="E07E2D"/>
          </a:solidFill>
          <a:ln>
            <a:solidFill>
              <a:srgbClr val="E07E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9200" y="5531485"/>
            <a:ext cx="2174875" cy="274955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DRAM</a:t>
            </a:r>
            <a:r>
              <a:rPr lang="zh-CN" sz="1300" b="1" i="0">
                <a:solidFill>
                  <a:srgbClr val="FFFFFF"/>
                </a:solidFill>
                <a:latin typeface="微软雅黑" panose="020B0503020204020204" charset="-122"/>
              </a:rPr>
              <a:t>：</a:t>
            </a: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 922</a:t>
            </a:r>
            <a:r>
              <a:rPr lang="en-US" sz="1300" b="1" i="0">
                <a:solidFill>
                  <a:srgbClr val="FFFFFF"/>
                </a:solidFill>
                <a:latin typeface="微软雅黑" panose="020B0503020204020204" charset="-122"/>
              </a:rPr>
              <a:t> cycles</a:t>
            </a:r>
            <a:endParaRPr lang="en-US"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图片 19" descr="a22a9b19-c9a1-4960-8590-901676a9655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670" y="1698625"/>
            <a:ext cx="5735955" cy="3506470"/>
          </a:xfrm>
          <a:prstGeom prst="rect">
            <a:avLst/>
          </a:prstGeom>
        </p:spPr>
      </p:pic>
      <p:pic>
        <p:nvPicPr>
          <p:cNvPr id="21" name="图片 20" descr="a55fd5fa-1d0b-46b8-b823-fd8fc7be18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1705" y="1673225"/>
            <a:ext cx="5809615" cy="3551555"/>
          </a:xfrm>
          <a:prstGeom prst="rect">
            <a:avLst/>
          </a:prstGeom>
        </p:spPr>
      </p:pic>
      <p:sp>
        <p:nvSpPr>
          <p:cNvPr id="23" name="TextBox 8"/>
          <p:cNvSpPr txBox="1"/>
          <p:nvPr/>
        </p:nvSpPr>
        <p:spPr>
          <a:xfrm>
            <a:off x="2991485" y="1438275"/>
            <a:ext cx="1179830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b="1"/>
              <a:t>不旁路</a:t>
            </a:r>
            <a:r>
              <a:rPr lang="en-US" altLang="zh-CN" b="1"/>
              <a:t> L1</a:t>
            </a:r>
            <a:endParaRPr lang="en-US" altLang="zh-CN" b="1"/>
          </a:p>
        </p:txBody>
      </p:sp>
      <p:sp>
        <p:nvSpPr>
          <p:cNvPr id="24" name="TextBox 8"/>
          <p:cNvSpPr txBox="1"/>
          <p:nvPr/>
        </p:nvSpPr>
        <p:spPr>
          <a:xfrm>
            <a:off x="8576945" y="1438275"/>
            <a:ext cx="1179830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b="1"/>
              <a:t>旁路</a:t>
            </a:r>
            <a:r>
              <a:rPr lang="en-US" altLang="zh-CN" b="1"/>
              <a:t> L1</a:t>
            </a:r>
            <a:endParaRPr lang="en-US" altLang="zh-CN" b="1"/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  <p:sp>
        <p:nvSpPr>
          <p:cNvPr id="7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2500" b="1" i="0" dirty="0" err="1">
                <a:solidFill>
                  <a:srgbClr val="143052"/>
                </a:solidFill>
                <a:latin typeface="微软雅黑" panose="020B0503020204020204" charset="-122"/>
              </a:rPr>
              <a:t>测试点一：内存层级延迟</a:t>
            </a:r>
            <a:endParaRPr sz="2500" b="1" i="0" dirty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49339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测试点二：DRAM 带宽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07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5"/>
          <p:cNvSpPr/>
          <p:nvPr>
            <p:custDataLst>
              <p:tags r:id="rId1"/>
            </p:custDataLst>
          </p:nvPr>
        </p:nvSpPr>
        <p:spPr>
          <a:xfrm>
            <a:off x="685800" y="1234440"/>
            <a:ext cx="3246120" cy="1948815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6"/>
          <p:cNvSpPr txBox="1"/>
          <p:nvPr>
            <p:custDataLst>
              <p:tags r:id="rId2"/>
            </p:custDataLst>
          </p:nvPr>
        </p:nvSpPr>
        <p:spPr>
          <a:xfrm>
            <a:off x="93268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17" name="TextBox 7"/>
          <p:cNvSpPr txBox="1"/>
          <p:nvPr>
            <p:custDataLst>
              <p:tags r:id="rId3"/>
            </p:custDataLst>
          </p:nvPr>
        </p:nvSpPr>
        <p:spPr>
          <a:xfrm>
            <a:off x="932688" y="1874519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测量绕过缓存干扰后的真实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DRAM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可达带宽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8"/>
          <p:cNvSpPr/>
          <p:nvPr>
            <p:custDataLst>
              <p:tags r:id="rId4"/>
            </p:custDataLst>
          </p:nvPr>
        </p:nvSpPr>
        <p:spPr>
          <a:xfrm>
            <a:off x="4434840" y="1234440"/>
            <a:ext cx="3246120" cy="1948815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9"/>
          <p:cNvSpPr txBox="1"/>
          <p:nvPr>
            <p:custDataLst>
              <p:tags r:id="rId5"/>
            </p:custDataLst>
          </p:nvPr>
        </p:nvSpPr>
        <p:spPr>
          <a:xfrm>
            <a:off x="468172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0"/>
          <p:cNvSpPr txBox="1"/>
          <p:nvPr>
            <p:custDataLst>
              <p:tags r:id="rId6"/>
            </p:custDataLst>
          </p:nvPr>
        </p:nvSpPr>
        <p:spPr>
          <a:xfrm>
            <a:off x="4681855" y="1874520"/>
            <a:ext cx="2697480" cy="7029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使用远大于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L2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的工作集，以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warp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连续地址执行合并的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grid-stride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访问；扫描线程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/block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配置，并比较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scalar、float4 及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Read、Write、Copy、Mixed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四种负载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。</a:t>
            </a:r>
            <a:endParaRPr sz="11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11"/>
          <p:cNvSpPr/>
          <p:nvPr>
            <p:custDataLst>
              <p:tags r:id="rId7"/>
            </p:custDataLst>
          </p:nvPr>
        </p:nvSpPr>
        <p:spPr>
          <a:xfrm>
            <a:off x="8183880" y="1234440"/>
            <a:ext cx="3246120" cy="1948815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12"/>
          <p:cNvSpPr txBox="1"/>
          <p:nvPr>
            <p:custDataLst>
              <p:tags r:id="rId8"/>
            </p:custDataLst>
          </p:nvPr>
        </p:nvSpPr>
        <p:spPr>
          <a:xfrm>
            <a:off x="843076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23" name="TextBox 13"/>
          <p:cNvSpPr txBox="1"/>
          <p:nvPr>
            <p:custDataLst>
              <p:tags r:id="rId9"/>
            </p:custDataLst>
          </p:nvPr>
        </p:nvSpPr>
        <p:spPr>
          <a:xfrm>
            <a:off x="8430768" y="1874519"/>
            <a:ext cx="2697480" cy="51090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L1 观察竞争边界；L2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比较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scalar 与 float4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的可达带宽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pic>
        <p:nvPicPr>
          <p:cNvPr id="24" name="Picture 13" descr="scalar-test.png"/>
          <p:cNvPicPr>
            <a:picLocks noChangeAspect="1"/>
          </p:cNvPicPr>
          <p:nvPr/>
        </p:nvPicPr>
        <p:blipFill>
          <a:blip r:embed="rId10"/>
          <a:srcRect b="57000"/>
          <a:stretch>
            <a:fillRect/>
          </a:stretch>
        </p:blipFill>
        <p:spPr>
          <a:xfrm>
            <a:off x="763905" y="4312285"/>
            <a:ext cx="6318885" cy="1159510"/>
          </a:xfrm>
          <a:prstGeom prst="rect">
            <a:avLst/>
          </a:prstGeom>
        </p:spPr>
      </p:pic>
      <p:sp>
        <p:nvSpPr>
          <p:cNvPr id="25" name="TextBox 12"/>
          <p:cNvSpPr txBox="1"/>
          <p:nvPr/>
        </p:nvSpPr>
        <p:spPr>
          <a:xfrm>
            <a:off x="763905" y="3737102"/>
            <a:ext cx="6492240" cy="4572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000" b="1">
                <a:solidFill>
                  <a:srgbClr val="143052"/>
                </a:solidFill>
                <a:latin typeface="微软雅黑" panose="020B0503020204020204" charset="-122"/>
              </a:rPr>
              <a:t>scalar 与 float4 结果接近</a:t>
            </a:r>
            <a:endParaRPr sz="20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5"/>
          <p:cNvSpPr/>
          <p:nvPr/>
        </p:nvSpPr>
        <p:spPr>
          <a:xfrm>
            <a:off x="8135620" y="3804920"/>
            <a:ext cx="3340735" cy="2224405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7"/>
          <p:cNvSpPr txBox="1"/>
          <p:nvPr/>
        </p:nvSpPr>
        <p:spPr>
          <a:xfrm>
            <a:off x="8347075" y="4121785"/>
            <a:ext cx="1517015" cy="6324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b="1">
                <a:solidFill>
                  <a:srgbClr val="00928E"/>
                </a:solidFill>
                <a:latin typeface="微软雅黑" panose="020B0503020204020204" charset="-122"/>
                <a:sym typeface="+mn-ea"/>
              </a:rPr>
              <a:t>实测峰值</a:t>
            </a:r>
            <a:endParaRPr b="1" i="0">
              <a:solidFill>
                <a:srgbClr val="00928E"/>
              </a:solidFill>
              <a:latin typeface="微软雅黑" panose="020B0503020204020204" charset="-122"/>
            </a:endParaRPr>
          </a:p>
          <a:p>
            <a:pPr algn="l"/>
            <a:r>
              <a:rPr b="1" i="0">
                <a:solidFill>
                  <a:srgbClr val="00928E"/>
                </a:solidFill>
                <a:latin typeface="微软雅黑" panose="020B0503020204020204" charset="-122"/>
              </a:rPr>
              <a:t>9</a:t>
            </a:r>
            <a:r>
              <a:rPr lang="en-US" b="1" i="0">
                <a:solidFill>
                  <a:srgbClr val="00928E"/>
                </a:solidFill>
                <a:latin typeface="微软雅黑" panose="020B0503020204020204" charset="-122"/>
              </a:rPr>
              <a:t>10</a:t>
            </a:r>
            <a:r>
              <a:rPr b="1" i="0">
                <a:solidFill>
                  <a:srgbClr val="00928E"/>
                </a:solidFill>
                <a:latin typeface="微软雅黑" panose="020B0503020204020204" charset="-122"/>
              </a:rPr>
              <a:t>.</a:t>
            </a:r>
            <a:r>
              <a:rPr lang="en-US" b="1" i="0">
                <a:solidFill>
                  <a:srgbClr val="00928E"/>
                </a:solidFill>
                <a:latin typeface="微软雅黑" panose="020B0503020204020204" charset="-122"/>
              </a:rPr>
              <a:t>67 GB/s</a:t>
            </a:r>
            <a:endParaRPr lang="en-US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cxnSp>
        <p:nvCxnSpPr>
          <p:cNvPr id="33" name="Connector 9"/>
          <p:cNvCxnSpPr/>
          <p:nvPr/>
        </p:nvCxnSpPr>
        <p:spPr>
          <a:xfrm>
            <a:off x="8319897" y="4908550"/>
            <a:ext cx="1470025" cy="0"/>
          </a:xfrm>
          <a:prstGeom prst="line">
            <a:avLst/>
          </a:prstGeom>
          <a:ln w="25400">
            <a:solidFill>
              <a:srgbClr val="0092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10"/>
          <p:cNvSpPr txBox="1"/>
          <p:nvPr/>
        </p:nvSpPr>
        <p:spPr>
          <a:xfrm>
            <a:off x="8354060" y="5062855"/>
            <a:ext cx="1494155" cy="7156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b="1" i="0">
                <a:solidFill>
                  <a:srgbClr val="143052"/>
                </a:solidFill>
                <a:latin typeface="微软雅黑" panose="020B0503020204020204" charset="-122"/>
              </a:rPr>
              <a:t>官方理论带宽
960 GB/s</a:t>
            </a:r>
            <a:endParaRPr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11"/>
          <p:cNvSpPr txBox="1"/>
          <p:nvPr/>
        </p:nvSpPr>
        <p:spPr>
          <a:xfrm>
            <a:off x="10005060" y="4589145"/>
            <a:ext cx="1445260" cy="6527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sz="2200" b="1" i="0">
                <a:solidFill>
                  <a:srgbClr val="E07E2D"/>
                </a:solidFill>
                <a:latin typeface="微软雅黑" panose="020B0503020204020204" charset="-122"/>
              </a:rPr>
              <a:t>达成率约 94.</a:t>
            </a:r>
            <a:r>
              <a:rPr lang="en-US" sz="2200" b="1" i="0">
                <a:solidFill>
                  <a:srgbClr val="E07E2D"/>
                </a:solidFill>
                <a:latin typeface="微软雅黑" panose="020B0503020204020204" charset="-122"/>
              </a:rPr>
              <a:t>9</a:t>
            </a:r>
            <a:r>
              <a:rPr sz="2200" b="1" i="0">
                <a:solidFill>
                  <a:srgbClr val="E07E2D"/>
                </a:solidFill>
                <a:latin typeface="微软雅黑" panose="020B0503020204020204" charset="-122"/>
              </a:rPr>
              <a:t>%</a:t>
            </a:r>
            <a:endParaRPr sz="22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43052"/>
                </a:solidFill>
                <a:latin typeface="微软雅黑" panose="020B0503020204020204" charset="-122"/>
              </a:rPr>
              <a:t>测试点三：L1/L2 缓存带宽</a:t>
            </a:r>
            <a:endParaRPr sz="2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11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246120" cy="1958975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32688" y="1874519"/>
            <a:ext cx="2697480" cy="3092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i="0" dirty="0" err="1">
                <a:solidFill>
                  <a:srgbClr val="222D3A"/>
                </a:solidFill>
                <a:latin typeface="微软雅黑" panose="020B0503020204020204" charset="-122"/>
              </a:rPr>
              <a:t>测量片上</a:t>
            </a:r>
            <a:r>
              <a:rPr sz="1300" i="0" dirty="0">
                <a:solidFill>
                  <a:srgbClr val="222D3A"/>
                </a:solidFill>
                <a:latin typeface="微软雅黑" panose="020B0503020204020204" charset="-122"/>
              </a:rPr>
              <a:t> L1 / L2 </a:t>
            </a:r>
            <a:r>
              <a:rPr sz="1300" i="0" dirty="0" err="1">
                <a:solidFill>
                  <a:srgbClr val="222D3A"/>
                </a:solidFill>
                <a:latin typeface="微软雅黑" panose="020B0503020204020204" charset="-122"/>
              </a:rPr>
              <a:t>的可达带宽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434840" y="1234440"/>
            <a:ext cx="3246120" cy="194056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81728" y="1874519"/>
            <a:ext cx="2697480" cy="11093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L1：每个 block 访问独立小工作集；L2：所有 block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访问共享工作集并绕过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L1；扫描工作集、线程/block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配置，并比较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scalar 与 float4。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183880" y="1234440"/>
            <a:ext cx="3246120" cy="191643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0768" y="1508760"/>
            <a:ext cx="26974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30768" y="1874519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L1 观察竞争边界；L2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比较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scalar 与 float4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的可达带宽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737360" y="406908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4297680"/>
            <a:ext cx="1325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SM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cxnSp>
        <p:nvCxnSpPr>
          <p:cNvPr id="17" name="Connector 16"/>
          <p:cNvCxnSpPr>
            <a:endCxn id="19" idx="1"/>
          </p:cNvCxnSpPr>
          <p:nvPr/>
        </p:nvCxnSpPr>
        <p:spPr>
          <a:xfrm flipV="1">
            <a:off x="3090672" y="4457827"/>
            <a:ext cx="1024255" cy="4445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114800" y="406908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4297680"/>
            <a:ext cx="1325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L1
.ca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cxnSp>
        <p:nvCxnSpPr>
          <p:cNvPr id="20" name="Connector 19"/>
          <p:cNvCxnSpPr>
            <a:endCxn id="22" idx="1"/>
          </p:cNvCxnSpPr>
          <p:nvPr/>
        </p:nvCxnSpPr>
        <p:spPr>
          <a:xfrm flipV="1">
            <a:off x="5468112" y="4457827"/>
            <a:ext cx="1024255" cy="4445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92240" y="406908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297680"/>
            <a:ext cx="1325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L2
.cg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cxnSp>
        <p:nvCxnSpPr>
          <p:cNvPr id="23" name="Connector 22"/>
          <p:cNvCxnSpPr>
            <a:endCxn id="25" idx="1"/>
          </p:cNvCxnSpPr>
          <p:nvPr/>
        </p:nvCxnSpPr>
        <p:spPr>
          <a:xfrm flipV="1">
            <a:off x="7845552" y="4457827"/>
            <a:ext cx="1024255" cy="4445"/>
          </a:xfrm>
          <a:prstGeom prst="line">
            <a:avLst/>
          </a:prstGeom>
          <a:ln w="25400">
            <a:solidFill>
              <a:srgbClr val="00928E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69680" y="4069080"/>
            <a:ext cx="1325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09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0" y="4297680"/>
            <a:ext cx="1325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DRAM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60120" y="5349240"/>
            <a:ext cx="6760210" cy="33972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500" b="1">
                <a:solidFill>
                  <a:srgbClr val="00928E"/>
                </a:solidFill>
                <a:latin typeface="微软雅黑" panose="020B0503020204020204" charset="-122"/>
              </a:rPr>
              <a:t>通过独立/共享数据区和不同工作集规模，将访问压力分别集中到 L1 与 L2。</a:t>
            </a:r>
            <a:endParaRPr sz="1500" b="1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测试点三：L1/L2 缓存带宽｜L1 竞争边界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12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图片 14"/>
          <p:cNvPicPr/>
          <p:nvPr/>
        </p:nvPicPr>
        <p:blipFill>
          <a:blip r:embed="rId1"/>
          <a:stretch>
            <a:fillRect/>
          </a:stretch>
        </p:blipFill>
        <p:spPr>
          <a:xfrm>
            <a:off x="772160" y="1479550"/>
            <a:ext cx="5017135" cy="3251200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2"/>
          <a:stretch>
            <a:fillRect/>
          </a:stretch>
        </p:blipFill>
        <p:spPr>
          <a:xfrm>
            <a:off x="6019165" y="1483360"/>
            <a:ext cx="5273675" cy="3246120"/>
          </a:xfrm>
          <a:prstGeom prst="rect">
            <a:avLst/>
          </a:prstGeom>
        </p:spPr>
      </p:pic>
      <p:sp>
        <p:nvSpPr>
          <p:cNvPr id="23" name="TextBox 8"/>
          <p:cNvSpPr txBox="1"/>
          <p:nvPr/>
        </p:nvSpPr>
        <p:spPr>
          <a:xfrm>
            <a:off x="2383155" y="1160780"/>
            <a:ext cx="237553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en-US" b="1"/>
              <a:t>Scalar Float</a:t>
            </a:r>
            <a:endParaRPr lang="en-US" b="1"/>
          </a:p>
        </p:txBody>
      </p:sp>
      <p:sp>
        <p:nvSpPr>
          <p:cNvPr id="18" name="TextBox 8"/>
          <p:cNvSpPr txBox="1"/>
          <p:nvPr/>
        </p:nvSpPr>
        <p:spPr>
          <a:xfrm>
            <a:off x="7919720" y="1164590"/>
            <a:ext cx="237553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en-US" b="1"/>
              <a:t>Vector Float4</a:t>
            </a:r>
            <a:endParaRPr lang="en-US" b="1"/>
          </a:p>
        </p:txBody>
      </p:sp>
      <p:sp>
        <p:nvSpPr>
          <p:cNvPr id="19" name="Rounded Rectangle 7"/>
          <p:cNvSpPr/>
          <p:nvPr/>
        </p:nvSpPr>
        <p:spPr>
          <a:xfrm>
            <a:off x="868680" y="5029200"/>
            <a:ext cx="10424160" cy="100203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8"/>
          <p:cNvSpPr txBox="1"/>
          <p:nvPr/>
        </p:nvSpPr>
        <p:spPr>
          <a:xfrm>
            <a:off x="1143000" y="5360670"/>
            <a:ext cx="9875520" cy="445135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lang="en-US" sz="1500" b="1" i="0" dirty="0">
                <a:solidFill>
                  <a:srgbClr val="143052"/>
                </a:solidFill>
                <a:latin typeface="微软雅黑" panose="020B0503020204020204" charset="-122"/>
              </a:rPr>
              <a:t>L1 </a:t>
            </a:r>
            <a:r>
              <a:rPr lang="zh-CN" altLang="en-US" sz="1500" b="1" i="0" dirty="0">
                <a:solidFill>
                  <a:srgbClr val="143052"/>
                </a:solidFill>
                <a:latin typeface="微软雅黑" panose="020B0503020204020204" charset="-122"/>
              </a:rPr>
              <a:t>在</a:t>
            </a:r>
            <a:r>
              <a:rPr lang="en-US" altLang="zh-CN" sz="1500" b="1" i="0" dirty="0">
                <a:solidFill>
                  <a:srgbClr val="143052"/>
                </a:solidFill>
                <a:latin typeface="微软雅黑" panose="020B0503020204020204" charset="-122"/>
              </a:rPr>
              <a:t> scalar float </a:t>
            </a:r>
            <a:r>
              <a:rPr lang="zh-CN" altLang="en-US" sz="1500" b="1" i="0" dirty="0">
                <a:solidFill>
                  <a:srgbClr val="143052"/>
                </a:solidFill>
                <a:latin typeface="微软雅黑" panose="020B0503020204020204" charset="-122"/>
              </a:rPr>
              <a:t>负载下实际聚合带宽为</a:t>
            </a:r>
            <a:r>
              <a:rPr lang="en-US" altLang="zh-CN" sz="1500" b="1" i="0" dirty="0">
                <a:solidFill>
                  <a:srgbClr val="143052"/>
                </a:solidFill>
                <a:latin typeface="微软雅黑" panose="020B0503020204020204" charset="-122"/>
              </a:rPr>
              <a:t> 6609.88 GB/s</a:t>
            </a:r>
            <a:r>
              <a:rPr lang="zh-CN" altLang="en-US" sz="1500" b="1" i="0" dirty="0">
                <a:solidFill>
                  <a:srgbClr val="143052"/>
                </a:solidFill>
                <a:latin typeface="微软雅黑" panose="020B0503020204020204" charset="-122"/>
              </a:rPr>
              <a:t>；</a:t>
            </a:r>
            <a:r>
              <a:rPr lang="en-US" altLang="zh-CN" sz="1500" b="1" i="0" dirty="0">
                <a:solidFill>
                  <a:srgbClr val="143052"/>
                </a:solidFill>
                <a:latin typeface="微软雅黑" panose="020B0503020204020204" charset="-122"/>
              </a:rPr>
              <a:t>vector float4 </a:t>
            </a:r>
            <a:r>
              <a:rPr lang="zh-CN" altLang="en-US" sz="1500" b="1" i="0" dirty="0">
                <a:solidFill>
                  <a:srgbClr val="143052"/>
                </a:solidFill>
                <a:latin typeface="微软雅黑" panose="020B0503020204020204" charset="-122"/>
              </a:rPr>
              <a:t>负载下实际</a:t>
            </a:r>
            <a:r>
              <a:rPr lang="zh-CN" altLang="en-US" sz="1500" b="1" dirty="0">
                <a:solidFill>
                  <a:srgbClr val="143052"/>
                </a:solidFill>
                <a:latin typeface="微软雅黑" panose="020B0503020204020204" charset="-122"/>
                <a:sym typeface="+mn-ea"/>
              </a:rPr>
              <a:t>聚合</a:t>
            </a:r>
            <a:r>
              <a:rPr lang="zh-CN" altLang="en-US" sz="1500" b="1" i="0" dirty="0">
                <a:solidFill>
                  <a:srgbClr val="143052"/>
                </a:solidFill>
                <a:latin typeface="微软雅黑" panose="020B0503020204020204" charset="-122"/>
              </a:rPr>
              <a:t>带宽为</a:t>
            </a:r>
            <a:r>
              <a:rPr lang="en-US" altLang="zh-CN" sz="1500" b="1" i="0" dirty="0">
                <a:solidFill>
                  <a:srgbClr val="143052"/>
                </a:solidFill>
                <a:latin typeface="微软雅黑" panose="020B0503020204020204" charset="-122"/>
              </a:rPr>
              <a:t> 16444.94 GB/s</a:t>
            </a:r>
            <a:endParaRPr lang="en-US" altLang="zh-CN" sz="1500" b="1" i="0" dirty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测试点三：L1/L2 缓存带宽｜L2 与向量化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13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图片 14"/>
          <p:cNvPicPr/>
          <p:nvPr/>
        </p:nvPicPr>
        <p:blipFill>
          <a:blip r:embed="rId1"/>
          <a:srcRect r="53236"/>
          <a:stretch>
            <a:fillRect/>
          </a:stretch>
        </p:blipFill>
        <p:spPr>
          <a:xfrm>
            <a:off x="1143000" y="1395095"/>
            <a:ext cx="4535805" cy="3477260"/>
          </a:xfrm>
          <a:prstGeom prst="rect">
            <a:avLst/>
          </a:prstGeom>
        </p:spPr>
      </p:pic>
      <p:pic>
        <p:nvPicPr>
          <p:cNvPr id="16" name="图片 15"/>
          <p:cNvPicPr/>
          <p:nvPr/>
        </p:nvPicPr>
        <p:blipFill>
          <a:blip r:embed="rId2"/>
          <a:srcRect r="31319"/>
          <a:stretch>
            <a:fillRect/>
          </a:stretch>
        </p:blipFill>
        <p:spPr>
          <a:xfrm>
            <a:off x="6347460" y="1395730"/>
            <a:ext cx="4716780" cy="3483610"/>
          </a:xfrm>
          <a:prstGeom prst="rect">
            <a:avLst/>
          </a:prstGeom>
        </p:spPr>
      </p:pic>
      <p:sp>
        <p:nvSpPr>
          <p:cNvPr id="23" name="TextBox 8"/>
          <p:cNvSpPr txBox="1"/>
          <p:nvPr/>
        </p:nvSpPr>
        <p:spPr>
          <a:xfrm>
            <a:off x="2726690" y="1111885"/>
            <a:ext cx="237553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en-US" b="1"/>
              <a:t>Scalar Float</a:t>
            </a:r>
            <a:endParaRPr lang="en-US" b="1"/>
          </a:p>
        </p:txBody>
      </p:sp>
      <p:sp>
        <p:nvSpPr>
          <p:cNvPr id="18" name="TextBox 8"/>
          <p:cNvSpPr txBox="1"/>
          <p:nvPr/>
        </p:nvSpPr>
        <p:spPr>
          <a:xfrm>
            <a:off x="7919720" y="1096010"/>
            <a:ext cx="237553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en-US" b="1"/>
              <a:t>Vector Float4</a:t>
            </a:r>
            <a:endParaRPr lang="en-US" b="1"/>
          </a:p>
        </p:txBody>
      </p:sp>
      <p:sp>
        <p:nvSpPr>
          <p:cNvPr id="19" name="Rounded Rectangle 7"/>
          <p:cNvSpPr/>
          <p:nvPr/>
        </p:nvSpPr>
        <p:spPr>
          <a:xfrm>
            <a:off x="868680" y="5029200"/>
            <a:ext cx="10424160" cy="100203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8"/>
          <p:cNvSpPr txBox="1"/>
          <p:nvPr/>
        </p:nvSpPr>
        <p:spPr>
          <a:xfrm>
            <a:off x="1143000" y="5360670"/>
            <a:ext cx="9875520" cy="445135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lang="en-US" sz="1500" b="1" i="0">
                <a:solidFill>
                  <a:srgbClr val="143052"/>
                </a:solidFill>
                <a:latin typeface="微软雅黑" panose="020B0503020204020204" charset="-122"/>
              </a:rPr>
              <a:t>L2 </a:t>
            </a:r>
            <a:r>
              <a:rPr lang="zh-CN" altLang="en-US" sz="1500" b="1" i="0">
                <a:solidFill>
                  <a:srgbClr val="143052"/>
                </a:solidFill>
                <a:latin typeface="微软雅黑" panose="020B0503020204020204" charset="-122"/>
              </a:rPr>
              <a:t>在</a:t>
            </a:r>
            <a:r>
              <a:rPr lang="en-US" altLang="zh-CN" sz="1500" b="1" i="0">
                <a:solidFill>
                  <a:srgbClr val="143052"/>
                </a:solidFill>
                <a:latin typeface="微软雅黑" panose="020B0503020204020204" charset="-122"/>
              </a:rPr>
              <a:t> scalar float </a:t>
            </a:r>
            <a:r>
              <a:rPr lang="zh-CN" altLang="en-US" sz="1500" b="1" i="0">
                <a:solidFill>
                  <a:srgbClr val="143052"/>
                </a:solidFill>
                <a:latin typeface="微软雅黑" panose="020B0503020204020204" charset="-122"/>
              </a:rPr>
              <a:t>负载下实际聚合带宽为</a:t>
            </a:r>
            <a:r>
              <a:rPr lang="en-US" altLang="zh-CN" sz="1500" b="1" i="0">
                <a:solidFill>
                  <a:srgbClr val="143052"/>
                </a:solidFill>
                <a:latin typeface="微软雅黑" panose="020B0503020204020204" charset="-122"/>
              </a:rPr>
              <a:t> 3609.79 GB/s</a:t>
            </a:r>
            <a:r>
              <a:rPr lang="zh-CN" altLang="en-US" sz="1500" b="1" i="0">
                <a:solidFill>
                  <a:srgbClr val="143052"/>
                </a:solidFill>
                <a:latin typeface="微软雅黑" panose="020B0503020204020204" charset="-122"/>
              </a:rPr>
              <a:t>；</a:t>
            </a:r>
            <a:r>
              <a:rPr lang="en-US" altLang="zh-CN" sz="1500" b="1" i="0">
                <a:solidFill>
                  <a:srgbClr val="143052"/>
                </a:solidFill>
                <a:latin typeface="微软雅黑" panose="020B0503020204020204" charset="-122"/>
              </a:rPr>
              <a:t>vector float4 </a:t>
            </a:r>
            <a:r>
              <a:rPr lang="zh-CN" altLang="en-US" sz="1500" b="1" i="0">
                <a:solidFill>
                  <a:srgbClr val="143052"/>
                </a:solidFill>
                <a:latin typeface="微软雅黑" panose="020B0503020204020204" charset="-122"/>
              </a:rPr>
              <a:t>负载下实际聚合带宽为</a:t>
            </a:r>
            <a:r>
              <a:rPr lang="en-US" altLang="zh-CN" sz="1500" b="1" i="0">
                <a:solidFill>
                  <a:srgbClr val="143052"/>
                </a:solidFill>
                <a:latin typeface="微软雅黑" panose="020B0503020204020204" charset="-122"/>
              </a:rPr>
              <a:t> 4875.02 GB/s</a:t>
            </a:r>
            <a:endParaRPr lang="en-US" altLang="zh-CN"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2500" b="1" i="0">
                <a:solidFill>
                  <a:srgbClr val="143052"/>
                </a:solidFill>
                <a:latin typeface="微软雅黑" panose="020B0503020204020204" charset="-122"/>
              </a:rPr>
              <a:t>测试点四：识别 L2 有效容量</a:t>
            </a:r>
            <a:endParaRPr sz="2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14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93268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i="0" dirty="0" err="1">
                <a:solidFill>
                  <a:srgbClr val="222D3A"/>
                </a:solidFill>
                <a:latin typeface="微软雅黑" panose="020B0503020204020204" charset="-122"/>
              </a:rPr>
              <a:t>识别</a:t>
            </a:r>
            <a:r>
              <a:rPr sz="1300" i="0" dirty="0">
                <a:solidFill>
                  <a:srgbClr val="222D3A"/>
                </a:solidFill>
                <a:latin typeface="微软雅黑" panose="020B0503020204020204" charset="-122"/>
              </a:rPr>
              <a:t> L2 </a:t>
            </a:r>
            <a:r>
              <a:rPr sz="1300" i="0" dirty="0" err="1">
                <a:solidFill>
                  <a:srgbClr val="222D3A"/>
                </a:solidFill>
                <a:latin typeface="微软雅黑" panose="020B0503020204020204" charset="-122"/>
              </a:rPr>
              <a:t>命中平台到</a:t>
            </a:r>
            <a:r>
              <a:rPr sz="1300" i="0" dirty="0">
                <a:solidFill>
                  <a:srgbClr val="222D3A"/>
                </a:solidFill>
                <a:latin typeface="微软雅黑" panose="020B0503020204020204" charset="-122"/>
              </a:rPr>
              <a:t> DRAM </a:t>
            </a:r>
            <a:r>
              <a:rPr sz="1300" i="0" dirty="0" err="1">
                <a:solidFill>
                  <a:srgbClr val="222D3A"/>
                </a:solidFill>
                <a:latin typeface="微软雅黑" panose="020B0503020204020204" charset="-122"/>
              </a:rPr>
              <a:t>平台的转折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4681728" y="1938528"/>
            <a:ext cx="2697480" cy="909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在单个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SM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上执行随机依赖地址链，并持续增大工作集；通过低延迟平台向高延迟平台的跃迁识别容量边界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。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843076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曲线在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64 MiB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附近由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L2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命中平台转入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</a:rPr>
              <a:t> DRAM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</a:rPr>
              <a:t>高延迟平台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058025" y="3897630"/>
            <a:ext cx="4920615" cy="9779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b="1" i="0">
                <a:solidFill>
                  <a:srgbClr val="143052"/>
                </a:solidFill>
                <a:latin typeface="微软雅黑" panose="020B0503020204020204" charset="-122"/>
              </a:rPr>
              <a:t>核心信号：
低延迟平台 → 过渡区 → 高延迟平台</a:t>
            </a:r>
            <a:endParaRPr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25055" y="4805680"/>
            <a:ext cx="3824605" cy="35496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600" b="1" i="0">
                <a:solidFill>
                  <a:srgbClr val="00928E"/>
                </a:solidFill>
                <a:latin typeface="微软雅黑" panose="020B0503020204020204" charset="-122"/>
              </a:rPr>
              <a:t>实验转折与官方 L2 容量</a:t>
            </a:r>
            <a:r>
              <a:rPr lang="en-US" sz="1600" b="1" i="0">
                <a:solidFill>
                  <a:srgbClr val="00928E"/>
                </a:solidFill>
                <a:latin typeface="微软雅黑" panose="020B0503020204020204" charset="-122"/>
              </a:rPr>
              <a:t> 64 MiB </a:t>
            </a:r>
            <a:r>
              <a:rPr sz="1600" b="1" i="0">
                <a:solidFill>
                  <a:srgbClr val="00928E"/>
                </a:solidFill>
                <a:latin typeface="微软雅黑" panose="020B0503020204020204" charset="-122"/>
              </a:rPr>
              <a:t>一致。</a:t>
            </a:r>
            <a:endParaRPr sz="16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0352" y="6519672"/>
            <a:ext cx="6894703" cy="22415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750" b="0" i="0">
                <a:solidFill>
                  <a:srgbClr val="677584"/>
                </a:solidFill>
                <a:latin typeface="微软雅黑" panose="020B0503020204020204" charset="-122"/>
              </a:rPr>
              <a:t>官方容量：NVIDIA Whitepaper 第 51 页</a:t>
            </a:r>
            <a:endParaRPr sz="75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pic>
        <p:nvPicPr>
          <p:cNvPr id="21" name="图片 20" descr="l2_latenc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9515" y="3155315"/>
            <a:ext cx="5511800" cy="3089910"/>
          </a:xfrm>
          <a:prstGeom prst="rect">
            <a:avLst/>
          </a:prstGeom>
        </p:spPr>
      </p:pic>
      <p:sp>
        <p:nvSpPr>
          <p:cNvPr id="15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测试点五：L2 缓存行占用与预取提示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15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图片 7" descr="l2_latenc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550" y="3459480"/>
            <a:ext cx="5887085" cy="2094865"/>
          </a:xfrm>
          <a:prstGeom prst="rect">
            <a:avLst/>
          </a:prstGeom>
        </p:spPr>
      </p:pic>
      <p:pic>
        <p:nvPicPr>
          <p:cNvPr id="10" name="图片 9" descr="l2_latency"/>
          <p:cNvPicPr>
            <a:picLocks noChangeAspect="1"/>
          </p:cNvPicPr>
          <p:nvPr/>
        </p:nvPicPr>
        <p:blipFill>
          <a:blip r:embed="rId2"/>
          <a:srcRect l="4485" t="72173" r="34849" b="6511"/>
          <a:stretch>
            <a:fillRect/>
          </a:stretch>
        </p:blipFill>
        <p:spPr>
          <a:xfrm>
            <a:off x="6276975" y="3523615"/>
            <a:ext cx="5271770" cy="2097405"/>
          </a:xfrm>
          <a:prstGeom prst="rect">
            <a:avLst/>
          </a:prstGeom>
        </p:spPr>
      </p:pic>
      <p:sp>
        <p:nvSpPr>
          <p:cNvPr id="11" name="TextBox 8"/>
          <p:cNvSpPr txBox="1"/>
          <p:nvPr/>
        </p:nvSpPr>
        <p:spPr>
          <a:xfrm>
            <a:off x="2611755" y="3204845"/>
            <a:ext cx="237553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b="1"/>
              <a:t>固定预取提示，改变步长</a:t>
            </a:r>
            <a:endParaRPr lang="zh-CN" altLang="en-US" b="1"/>
          </a:p>
        </p:txBody>
      </p:sp>
      <p:sp>
        <p:nvSpPr>
          <p:cNvPr id="12" name="TextBox 8"/>
          <p:cNvSpPr txBox="1"/>
          <p:nvPr/>
        </p:nvSpPr>
        <p:spPr>
          <a:xfrm>
            <a:off x="7980045" y="3204845"/>
            <a:ext cx="237553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b="1"/>
              <a:t>固定步长，改变预取提示</a:t>
            </a:r>
            <a:endParaRPr lang="zh-CN" altLang="en-US" b="1"/>
          </a:p>
        </p:txBody>
      </p:sp>
      <p:sp>
        <p:nvSpPr>
          <p:cNvPr id="13" name="Rounded Rectangle 5"/>
          <p:cNvSpPr/>
          <p:nvPr>
            <p:custDataLst>
              <p:tags r:id="rId3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6"/>
          <p:cNvSpPr txBox="1"/>
          <p:nvPr>
            <p:custDataLst>
              <p:tags r:id="rId4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7"/>
          <p:cNvSpPr txBox="1"/>
          <p:nvPr>
            <p:custDataLst>
              <p:tags r:id="rId5"/>
            </p:custDataLst>
          </p:nvPr>
        </p:nvSpPr>
        <p:spPr>
          <a:xfrm>
            <a:off x="932688" y="1938528"/>
            <a:ext cx="2697480" cy="70929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判断容量由地址跨度、实际缓存行数还是预取提示决定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  <a:p>
            <a:pPr algn="l"/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8"/>
          <p:cNvSpPr/>
          <p:nvPr>
            <p:custDataLst>
              <p:tags r:id="rId6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9"/>
          <p:cNvSpPr txBox="1"/>
          <p:nvPr>
            <p:custDataLst>
              <p:tags r:id="rId7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0" name="TextBox 10"/>
          <p:cNvSpPr txBox="1"/>
          <p:nvPr>
            <p:custDataLst>
              <p:tags r:id="rId8"/>
            </p:custDataLst>
          </p:nvPr>
        </p:nvSpPr>
        <p:spPr>
          <a:xfrm>
            <a:off x="4681728" y="1938528"/>
            <a:ext cx="2697480" cy="70929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改变步长与工作集，使配置覆盖相同数量的唯一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128 B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缓存行；比较不同预取提示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11"/>
          <p:cNvSpPr/>
          <p:nvPr>
            <p:custDataLst>
              <p:tags r:id="rId9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2"/>
          <p:cNvSpPr txBox="1"/>
          <p:nvPr>
            <p:custDataLst>
              <p:tags r:id="rId10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33" name="TextBox 13"/>
          <p:cNvSpPr txBox="1"/>
          <p:nvPr>
            <p:custDataLst>
              <p:tags r:id="rId11"/>
            </p:custDataLst>
          </p:nvPr>
        </p:nvSpPr>
        <p:spPr>
          <a:xfrm>
            <a:off x="843076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容量边界随实际缓存行数缩放；预取提示未造成明显偏移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测试点六：Persisting L2 保留能力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16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l2_reten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815" y="3429635"/>
            <a:ext cx="5033645" cy="2821940"/>
          </a:xfrm>
          <a:prstGeom prst="rect">
            <a:avLst/>
          </a:prstGeom>
        </p:spPr>
      </p:pic>
      <p:pic>
        <p:nvPicPr>
          <p:cNvPr id="22" name="图片 21" descr="l2_reten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415" y="3427730"/>
            <a:ext cx="4105275" cy="2925445"/>
          </a:xfrm>
          <a:prstGeom prst="rect">
            <a:avLst/>
          </a:prstGeom>
        </p:spPr>
      </p:pic>
      <p:sp>
        <p:nvSpPr>
          <p:cNvPr id="23" name="Rounded Rectangle 5"/>
          <p:cNvSpPr/>
          <p:nvPr>
            <p:custDataLst>
              <p:tags r:id="rId3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6"/>
          <p:cNvSpPr txBox="1"/>
          <p:nvPr>
            <p:custDataLst>
              <p:tags r:id="rId4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7"/>
          <p:cNvSpPr txBox="1"/>
          <p:nvPr>
            <p:custDataLst>
              <p:tags r:id="rId5"/>
            </p:custDataLst>
          </p:nvPr>
        </p:nvSpPr>
        <p:spPr>
          <a:xfrm>
            <a:off x="93268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验证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Persisting L2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能否保护热点数据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8"/>
          <p:cNvSpPr/>
          <p:nvPr>
            <p:custDataLst>
              <p:tags r:id="rId6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9"/>
          <p:cNvSpPr txBox="1"/>
          <p:nvPr>
            <p:custDataLst>
              <p:tags r:id="rId7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0" name="TextBox 10"/>
          <p:cNvSpPr txBox="1"/>
          <p:nvPr>
            <p:custDataLst>
              <p:tags r:id="rId8"/>
            </p:custDataLst>
          </p:nvPr>
        </p:nvSpPr>
        <p:spPr>
          <a:xfrm>
            <a:off x="4681728" y="1938528"/>
            <a:ext cx="2697480" cy="70929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将热集标记为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persisting，再用冷流冲刷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L2；分别扫描冷流强度和热集规模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11"/>
          <p:cNvSpPr/>
          <p:nvPr>
            <p:custDataLst>
              <p:tags r:id="rId9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2"/>
          <p:cNvSpPr txBox="1"/>
          <p:nvPr>
            <p:custDataLst>
              <p:tags r:id="rId10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33" name="TextBox 13"/>
          <p:cNvSpPr txBox="1"/>
          <p:nvPr>
            <p:custDataLst>
              <p:tags r:id="rId11"/>
            </p:custDataLst>
          </p:nvPr>
        </p:nvSpPr>
        <p:spPr>
          <a:xfrm>
            <a:off x="843076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预留容量内热集保持低延迟；超过容量后保护效果消失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8"/>
          <p:cNvSpPr txBox="1"/>
          <p:nvPr/>
        </p:nvSpPr>
        <p:spPr>
          <a:xfrm>
            <a:off x="2251075" y="3138170"/>
            <a:ext cx="285051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b="1"/>
              <a:t>固定热集大小，改变冷流强度</a:t>
            </a:r>
            <a:endParaRPr lang="zh-CN" altLang="en-US" b="1"/>
          </a:p>
        </p:txBody>
      </p:sp>
      <p:sp>
        <p:nvSpPr>
          <p:cNvPr id="25" name="TextBox 8"/>
          <p:cNvSpPr txBox="1"/>
          <p:nvPr/>
        </p:nvSpPr>
        <p:spPr>
          <a:xfrm>
            <a:off x="7419975" y="3132455"/>
            <a:ext cx="2821305" cy="318770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b="1"/>
              <a:t>固定冷流强度，改变热集大小</a:t>
            </a:r>
            <a:endParaRPr lang="zh-CN" altLang="en-US" b="1"/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测试点七：SM–L2 非均匀访问延迟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17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图片 8" descr="topology_per_s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25" y="3353435"/>
            <a:ext cx="7294880" cy="2646680"/>
          </a:xfrm>
          <a:prstGeom prst="rect">
            <a:avLst/>
          </a:prstGeom>
        </p:spPr>
      </p:pic>
      <p:sp>
        <p:nvSpPr>
          <p:cNvPr id="23" name="Rounded Rectangle 5"/>
          <p:cNvSpPr/>
          <p:nvPr>
            <p:custDataLst>
              <p:tags r:id="rId2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6"/>
          <p:cNvSpPr txBox="1"/>
          <p:nvPr>
            <p:custDataLst>
              <p:tags r:id="rId3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7"/>
          <p:cNvSpPr txBox="1"/>
          <p:nvPr>
            <p:custDataLst>
              <p:tags r:id="rId4"/>
            </p:custDataLst>
          </p:nvPr>
        </p:nvSpPr>
        <p:spPr>
          <a:xfrm>
            <a:off x="93268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判断不同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SM 到 L2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的访问延迟是否一致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28" name="Rounded Rectangle 8"/>
          <p:cNvSpPr/>
          <p:nvPr>
            <p:custDataLst>
              <p:tags r:id="rId5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9"/>
          <p:cNvSpPr txBox="1"/>
          <p:nvPr>
            <p:custDataLst>
              <p:tags r:id="rId6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0" name="TextBox 10"/>
          <p:cNvSpPr txBox="1"/>
          <p:nvPr>
            <p:custDataLst>
              <p:tags r:id="rId7"/>
            </p:custDataLst>
          </p:nvPr>
        </p:nvSpPr>
        <p:spPr>
          <a:xfrm>
            <a:off x="4681728" y="1938528"/>
            <a:ext cx="2697480" cy="70929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让各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SM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依次访问同一组地址探针；串行化访问并构建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SM ×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地址延迟矩阵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11"/>
          <p:cNvSpPr/>
          <p:nvPr>
            <p:custDataLst>
              <p:tags r:id="rId8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2"/>
          <p:cNvSpPr txBox="1"/>
          <p:nvPr>
            <p:custDataLst>
              <p:tags r:id="rId9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33" name="TextBox 13"/>
          <p:cNvSpPr txBox="1"/>
          <p:nvPr>
            <p:custDataLst>
              <p:tags r:id="rId10"/>
            </p:custDataLst>
          </p:nvPr>
        </p:nvSpPr>
        <p:spPr>
          <a:xfrm>
            <a:off x="843076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存在稳定的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SM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相关差异，并呈现前后半区相似轮廓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16"/>
          <p:cNvSpPr txBox="1"/>
          <p:nvPr/>
        </p:nvSpPr>
        <p:spPr>
          <a:xfrm>
            <a:off x="8538845" y="3986530"/>
            <a:ext cx="2673985" cy="11506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noAutofit/>
          </a:bodyPr>
          <a:lstStyle/>
          <a:p>
            <a:pPr algn="l"/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前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42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个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SM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与后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42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个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SM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的延迟曲线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Pearson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相关系数达</a:t>
            </a:r>
            <a:r>
              <a:rPr lang="en-US" altLang="zh-CN" sz="1600" b="1" i="0">
                <a:solidFill>
                  <a:srgbClr val="00928E"/>
                </a:solidFill>
                <a:latin typeface="微软雅黑" panose="020B0503020204020204" charset="-122"/>
              </a:rPr>
              <a:t> </a:t>
            </a:r>
            <a:r>
              <a:rPr lang="zh-CN" altLang="en-US" sz="1600" b="1" i="0">
                <a:solidFill>
                  <a:srgbClr val="00928E"/>
                </a:solidFill>
                <a:latin typeface="微软雅黑" panose="020B0503020204020204" charset="-122"/>
              </a:rPr>
              <a:t>0.999，表明二者几乎完全线性相关。</a:t>
            </a:r>
            <a:endParaRPr lang="zh-CN" altLang="en-US" sz="16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测试点八：L2 地址映射与候选拓扑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18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图片 31" descr="topology_model"/>
          <p:cNvPicPr>
            <a:picLocks noChangeAspect="1"/>
          </p:cNvPicPr>
          <p:nvPr/>
        </p:nvPicPr>
        <p:blipFill>
          <a:blip r:embed="rId1"/>
          <a:srcRect r="48897"/>
          <a:stretch>
            <a:fillRect/>
          </a:stretch>
        </p:blipFill>
        <p:spPr>
          <a:xfrm>
            <a:off x="4314825" y="3382645"/>
            <a:ext cx="3647440" cy="2588895"/>
          </a:xfrm>
          <a:prstGeom prst="rect">
            <a:avLst/>
          </a:prstGeom>
        </p:spPr>
      </p:pic>
      <p:sp>
        <p:nvSpPr>
          <p:cNvPr id="33" name="Rounded Rectangle 5"/>
          <p:cNvSpPr/>
          <p:nvPr>
            <p:custDataLst>
              <p:tags r:id="rId2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6"/>
          <p:cNvSpPr txBox="1"/>
          <p:nvPr>
            <p:custDataLst>
              <p:tags r:id="rId3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7"/>
          <p:cNvSpPr txBox="1"/>
          <p:nvPr>
            <p:custDataLst>
              <p:tags r:id="rId4"/>
            </p:custDataLst>
          </p:nvPr>
        </p:nvSpPr>
        <p:spPr>
          <a:xfrm>
            <a:off x="93268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分离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SM、地址与候选拓扑对延迟的影响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8"/>
          <p:cNvSpPr/>
          <p:nvPr>
            <p:custDataLst>
              <p:tags r:id="rId5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9"/>
          <p:cNvSpPr txBox="1"/>
          <p:nvPr>
            <p:custDataLst>
              <p:tags r:id="rId6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10"/>
          <p:cNvSpPr txBox="1"/>
          <p:nvPr>
            <p:custDataLst>
              <p:tags r:id="rId7"/>
            </p:custDataLst>
          </p:nvPr>
        </p:nvSpPr>
        <p:spPr>
          <a:xfrm>
            <a:off x="468172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进行加性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NUCA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分解、TPC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/GPC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相似性聚类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11"/>
          <p:cNvSpPr/>
          <p:nvPr>
            <p:custDataLst>
              <p:tags r:id="rId8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2"/>
          <p:cNvSpPr txBox="1"/>
          <p:nvPr>
            <p:custDataLst>
              <p:tags r:id="rId9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41" name="TextBox 13"/>
          <p:cNvSpPr txBox="1"/>
          <p:nvPr>
            <p:custDataLst>
              <p:tags r:id="rId10"/>
            </p:custDataLst>
          </p:nvPr>
        </p:nvSpPr>
        <p:spPr>
          <a:xfrm>
            <a:off x="8430768" y="1938528"/>
            <a:ext cx="2697480" cy="30924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R²=0.9973；候选分组分离明显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30540" y="3954145"/>
            <a:ext cx="3043555" cy="375285"/>
          </a:xfrm>
          <a:prstGeom prst="rect">
            <a:avLst/>
          </a:prstGeom>
        </p:spPr>
      </p:pic>
      <p:sp>
        <p:nvSpPr>
          <p:cNvPr id="44" name="TextBox 8"/>
          <p:cNvSpPr txBox="1"/>
          <p:nvPr/>
        </p:nvSpPr>
        <p:spPr>
          <a:xfrm>
            <a:off x="8430895" y="3702685"/>
            <a:ext cx="2375535" cy="257175"/>
          </a:xfrm>
          <a:prstGeom prst="rect">
            <a:avLst/>
          </a:prstGeom>
          <a:noFill/>
        </p:spPr>
        <p:txBody>
          <a:bodyPr wrap="square" lIns="45720" tIns="27432" rIns="36576">
            <a:sp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sz="1200" b="1"/>
              <a:t>定义加性非均匀缓存访问模型</a:t>
            </a:r>
            <a:endParaRPr lang="zh-CN" altLang="en-US" sz="1200" b="1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16"/>
              <p:cNvSpPr txBox="1"/>
              <p:nvPr/>
            </p:nvSpPr>
            <p:spPr>
              <a:xfrm>
                <a:off x="8183880" y="4403725"/>
                <a:ext cx="2990215" cy="1272540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noAutofit/>
              </a:bodyPr>
              <a:lstStyle/>
              <a:p>
                <a:pPr algn="l"/>
                <a:r>
                  <a:rPr lang="zh-CN" altLang="en-US" sz="1600" b="1" i="0">
                    <a:solidFill>
                      <a:srgbClr val="00928E"/>
                    </a:solidFill>
                    <a:latin typeface="微软雅黑" panose="020B0503020204020204" charset="-122"/>
                  </a:rPr>
                  <a:t>模型的决定系数</a:t>
                </a:r>
                <a:r>
                  <a:rPr lang="en-US" altLang="zh-CN" sz="1600" b="1" i="0">
                    <a:solidFill>
                      <a:srgbClr val="00928E"/>
                    </a:solidFill>
                    <a:latin typeface="微软雅黑" panose="020B0503020204020204" charset="-122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1" i="1">
                            <a:solidFill>
                              <a:srgbClr val="00928E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>
                            <a:solidFill>
                              <a:srgbClr val="00928E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1600" b="1" i="1">
                            <a:solidFill>
                              <a:srgbClr val="00928E"/>
                            </a:solidFill>
                            <a:latin typeface="Cambria Math" panose="02040503050406030204" pitchFamily="18" charset="0"/>
                            <a:ea typeface="MS Mincho" charset="0"/>
                            <a:cs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sz="1600" b="1" i="1">
                        <a:solidFill>
                          <a:srgbClr val="00928E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rgbClr val="00928E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rgbClr val="00928E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rgbClr val="00928E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𝟗𝟗𝟕𝟑</m:t>
                    </m:r>
                  </m:oMath>
                </a14:m>
                <a:r>
                  <a:rPr lang="en-US" altLang="zh-CN" sz="1600" b="1" i="1">
                    <a:solidFill>
                      <a:srgbClr val="00928E"/>
                    </a:solidFill>
                    <a:latin typeface="Cambria Math" panose="02040503050406030204" pitchFamily="18" charset="0"/>
                    <a:cs typeface="Cambria Math" panose="02040503050406030204" pitchFamily="18" charset="0"/>
                  </a:rPr>
                  <a:t> </a:t>
                </a:r>
                <a:r>
                  <a:rPr lang="zh-CN" altLang="en-US" sz="1600" b="1">
                    <a:solidFill>
                      <a:srgbClr val="00928E"/>
                    </a:solidFill>
                    <a:latin typeface="Cambria Math" panose="02040503050406030204" pitchFamily="18" charset="0"/>
                    <a:cs typeface="Cambria Math" panose="02040503050406030204" pitchFamily="18" charset="0"/>
                  </a:rPr>
                  <a:t>说明当前延迟矩阵可以由 </a:t>
                </a:r>
                <a:r>
                  <a:rPr lang="en-US" altLang="zh-CN" sz="1600" b="1">
                    <a:solidFill>
                      <a:srgbClr val="00928E"/>
                    </a:solidFill>
                    <a:latin typeface="Cambria Math" panose="02040503050406030204" pitchFamily="18" charset="0"/>
                    <a:cs typeface="Cambria Math" panose="02040503050406030204" pitchFamily="18" charset="0"/>
                  </a:rPr>
                  <a:t>SM </a:t>
                </a:r>
                <a:r>
                  <a:rPr lang="zh-CN" altLang="en-US" sz="1600" b="1">
                    <a:solidFill>
                      <a:srgbClr val="00928E"/>
                    </a:solidFill>
                    <a:latin typeface="Cambria Math" panose="02040503050406030204" pitchFamily="18" charset="0"/>
                    <a:cs typeface="Cambria Math" panose="02040503050406030204" pitchFamily="18" charset="0"/>
                  </a:rPr>
                  <a:t>主效应和地址探针主效应的线性叠加解释。</a:t>
                </a:r>
                <a:endParaRPr lang="zh-CN" altLang="en-US" sz="1600" b="1">
                  <a:solidFill>
                    <a:srgbClr val="00928E"/>
                  </a:solidFill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algn="l"/>
                <a:endParaRPr lang="zh-CN" altLang="en-US" sz="1600">
                  <a:solidFill>
                    <a:srgbClr val="00928E"/>
                  </a:solidFill>
                  <a:latin typeface="Cambria Math" panose="02040503050406030204" pitchFamily="18" charset="0"/>
                  <a:ea typeface="MS Mincho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5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3880" y="4403725"/>
                <a:ext cx="2990215" cy="1272540"/>
              </a:xfrm>
              <a:prstGeom prst="rect">
                <a:avLst/>
              </a:prstGeom>
              <a:blipFill rotWithShape="1">
                <a:blip r:embed="rId12"/>
                <a:stretch>
                  <a:fillRect b="-8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" name="图片 45" descr="topology_model"/>
          <p:cNvPicPr>
            <a:picLocks noChangeAspect="1"/>
          </p:cNvPicPr>
          <p:nvPr/>
        </p:nvPicPr>
        <p:blipFill>
          <a:blip r:embed="rId1"/>
          <a:srcRect l="50747"/>
          <a:stretch>
            <a:fillRect/>
          </a:stretch>
        </p:blipFill>
        <p:spPr>
          <a:xfrm>
            <a:off x="502920" y="3362960"/>
            <a:ext cx="3515360" cy="2588895"/>
          </a:xfrm>
          <a:prstGeom prst="rect">
            <a:avLst/>
          </a:prstGeom>
        </p:spPr>
      </p:pic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ounded Rectangle 11"/>
          <p:cNvSpPr/>
          <p:nvPr>
            <p:custDataLst>
              <p:tags r:id="rId1"/>
            </p:custDataLst>
          </p:nvPr>
        </p:nvSpPr>
        <p:spPr>
          <a:xfrm>
            <a:off x="6786245" y="5241925"/>
            <a:ext cx="3794760" cy="9728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>
              <a:sym typeface="+mn-ea"/>
            </a:endParaRPr>
          </a:p>
        </p:txBody>
      </p:sp>
      <p:sp>
        <p:nvSpPr>
          <p:cNvPr id="35" name="Rounded Rectangle 11"/>
          <p:cNvSpPr/>
          <p:nvPr>
            <p:custDataLst>
              <p:tags r:id="rId2"/>
            </p:custDataLst>
          </p:nvPr>
        </p:nvSpPr>
        <p:spPr>
          <a:xfrm>
            <a:off x="1210945" y="5252085"/>
            <a:ext cx="3794760" cy="9728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测试点八：L2 地址映射与候选拓扑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18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图片 30" descr="topology_gpc_tpc_combined"/>
          <p:cNvPicPr>
            <a:picLocks noChangeAspect="1"/>
          </p:cNvPicPr>
          <p:nvPr/>
        </p:nvPicPr>
        <p:blipFill>
          <a:blip r:embed="rId3"/>
          <a:srcRect l="7983" t="9815" r="8174" b="50271"/>
          <a:stretch>
            <a:fillRect/>
          </a:stretch>
        </p:blipFill>
        <p:spPr>
          <a:xfrm>
            <a:off x="387350" y="1416685"/>
            <a:ext cx="5263515" cy="3445510"/>
          </a:xfrm>
          <a:prstGeom prst="rect">
            <a:avLst/>
          </a:prstGeom>
        </p:spPr>
      </p:pic>
      <p:pic>
        <p:nvPicPr>
          <p:cNvPr id="32" name="图片 31" descr="topology_gpc_tpc_combined"/>
          <p:cNvPicPr>
            <a:picLocks noChangeAspect="1"/>
          </p:cNvPicPr>
          <p:nvPr/>
        </p:nvPicPr>
        <p:blipFill>
          <a:blip r:embed="rId3"/>
          <a:srcRect l="7983" t="50620" r="10805" b="7991"/>
          <a:stretch>
            <a:fillRect/>
          </a:stretch>
        </p:blipFill>
        <p:spPr>
          <a:xfrm>
            <a:off x="5765165" y="1101725"/>
            <a:ext cx="5855335" cy="4104005"/>
          </a:xfrm>
          <a:prstGeom prst="rect">
            <a:avLst/>
          </a:prstGeom>
        </p:spPr>
      </p:pic>
      <p:sp>
        <p:nvSpPr>
          <p:cNvPr id="37" name="TextBox 26"/>
          <p:cNvSpPr txBox="1"/>
          <p:nvPr>
            <p:custDataLst>
              <p:tags r:id="rId4"/>
            </p:custDataLst>
          </p:nvPr>
        </p:nvSpPr>
        <p:spPr>
          <a:xfrm>
            <a:off x="1640840" y="5522595"/>
            <a:ext cx="3126740" cy="702310"/>
          </a:xfrm>
          <a:prstGeom prst="rect">
            <a:avLst/>
          </a:prstGeom>
          <a:noFill/>
        </p:spPr>
        <p:txBody>
          <a:bodyPr wrap="square" lIns="54864" tIns="36576" rIns="54864" bIns="36576" anchor="ctr">
            <a:noAutofit/>
          </a:bodyPr>
          <a:lstStyle/>
          <a:p>
            <a:pPr algn="l"/>
            <a:r>
              <a:rPr lang="zh-CN" altLang="en-US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 </a:t>
            </a:r>
            <a:r>
              <a:rPr lang="en-US" altLang="zh-CN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SM </a:t>
            </a:r>
            <a:r>
              <a:rPr lang="zh-CN" altLang="en-US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 </a:t>
            </a:r>
            <a:r>
              <a:rPr lang="en-US" altLang="zh-CN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L2 </a:t>
            </a:r>
            <a:r>
              <a:rPr lang="zh-CN" altLang="en-US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的平均访问延迟最低 309.9 </a:t>
            </a:r>
            <a:r>
              <a:rPr lang="en-US" altLang="zh-CN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cycles；</a:t>
            </a:r>
            <a:r>
              <a:rPr lang="zh-CN" altLang="en-US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最高 368 </a:t>
            </a:r>
            <a:r>
              <a:rPr lang="en-US" altLang="zh-CN" sz="1400" b="1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cycles</a:t>
            </a:r>
            <a:endParaRPr lang="en-US" altLang="zh-CN" sz="1400" b="1">
              <a:solidFill>
                <a:srgbClr val="222D3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lang="en-US" altLang="zh-CN" sz="1400" b="1">
              <a:solidFill>
                <a:srgbClr val="222D3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8"/>
          <p:cNvSpPr txBox="1"/>
          <p:nvPr/>
        </p:nvSpPr>
        <p:spPr>
          <a:xfrm>
            <a:off x="7376160" y="5487670"/>
            <a:ext cx="2880995" cy="542290"/>
          </a:xfrm>
          <a:prstGeom prst="rect">
            <a:avLst/>
          </a:prstGeom>
          <a:noFill/>
        </p:spPr>
        <p:txBody>
          <a:bodyPr wrap="square" lIns="45720" tIns="27432" rIns="36576">
            <a:noAutofit/>
          </a:bodyPr>
          <a:lstStyle/>
          <a:p>
            <a:pPr indent="0">
              <a:spcAft>
                <a:spcPts val="800"/>
              </a:spcAft>
              <a:buNone/>
              <a:defRPr sz="1600">
                <a:solidFill>
                  <a:srgbClr val="222D3A"/>
                </a:solidFill>
                <a:latin typeface="微软雅黑" panose="020B0503020204020204" charset="-122"/>
              </a:defRPr>
            </a:pPr>
            <a:r>
              <a:rPr lang="zh-CN" altLang="en-US" sz="1400" b="1">
                <a:ea typeface="微软雅黑" panose="020B0503020204020204" charset="-122"/>
                <a:cs typeface="微软雅黑" panose="020B0503020204020204" charset="-122"/>
                <a:sym typeface="+mn-ea"/>
              </a:rPr>
              <a:t>延迟矩阵能够高置信度进行聚类，形成 SM-&gt;L2 延迟拓扑图。</a:t>
            </a:r>
            <a:endParaRPr lang="zh-CN" altLang="en-US" sz="1400" b="1"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测试点九：基于 L2 延迟指纹的 SM 识别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47472"/>
            <a:ext cx="141732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/>
            <a:r>
              <a:rPr sz="900" b="0" i="0">
                <a:solidFill>
                  <a:srgbClr val="677584"/>
                </a:solidFill>
                <a:latin typeface="微软雅黑" panose="020B0503020204020204" charset="-122"/>
              </a:rPr>
              <a:t>19</a:t>
            </a:r>
            <a:endParaRPr sz="900" b="0" i="0">
              <a:solidFill>
                <a:srgbClr val="677584"/>
              </a:solidFill>
              <a:latin typeface="微软雅黑" panose="020B0503020204020204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611112" y="1335024"/>
            <a:ext cx="4425696" cy="2286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200" b="1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2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11112" y="2459736"/>
            <a:ext cx="4425696" cy="2286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200" b="1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200" b="1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897620" y="4236085"/>
            <a:ext cx="2257425" cy="727075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/>
            <a:r>
              <a:rPr lang="zh-CN" altLang="en-US" sz="1600" b="1">
                <a:solidFill>
                  <a:srgbClr val="00928E"/>
                </a:solidFill>
                <a:latin typeface="微软雅黑" panose="020B0503020204020204" charset="-122"/>
              </a:rPr>
              <a:t>延迟指纹可用于精确识别 SM 候选范围与半区</a:t>
            </a:r>
            <a:endParaRPr sz="11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5"/>
          <p:cNvSpPr/>
          <p:nvPr>
            <p:custDataLst>
              <p:tags r:id="rId1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6"/>
          <p:cNvSpPr txBox="1"/>
          <p:nvPr>
            <p:custDataLst>
              <p:tags r:id="rId2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7"/>
          <p:cNvSpPr txBox="1"/>
          <p:nvPr>
            <p:custDataLst>
              <p:tags r:id="rId3"/>
            </p:custDataLst>
          </p:nvPr>
        </p:nvSpPr>
        <p:spPr>
          <a:xfrm>
            <a:off x="93268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验证不同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SM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是否具有可区分的延迟指纹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8"/>
          <p:cNvSpPr/>
          <p:nvPr>
            <p:custDataLst>
              <p:tags r:id="rId4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9"/>
          <p:cNvSpPr txBox="1"/>
          <p:nvPr>
            <p:custDataLst>
              <p:tags r:id="rId5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10"/>
          <p:cNvSpPr txBox="1"/>
          <p:nvPr>
            <p:custDataLst>
              <p:tags r:id="rId6"/>
            </p:custDataLst>
          </p:nvPr>
        </p:nvSpPr>
        <p:spPr>
          <a:xfrm>
            <a:off x="4681728" y="1938528"/>
            <a:ext cx="2697480" cy="91101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lang="zh-CN" altLang="en-US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为每个 </a:t>
            </a:r>
            <a:r>
              <a:rPr lang="en-US" altLang="zh-CN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SM </a:t>
            </a:r>
            <a:r>
              <a:rPr lang="zh-CN" altLang="en-US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采集多个固定地址探针的延迟向量，并按独立 </a:t>
            </a:r>
            <a:r>
              <a:rPr lang="en-US" altLang="zh-CN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shot </a:t>
            </a:r>
            <a:r>
              <a:rPr lang="zh-CN" altLang="en-US" sz="1300" dirty="0">
                <a:solidFill>
                  <a:srgbClr val="222D3A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划分训练集和测试集，使用随机森林方法训练和测试</a:t>
            </a:r>
            <a:endParaRPr sz="1300" dirty="0">
              <a:solidFill>
                <a:srgbClr val="222D3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11"/>
          <p:cNvSpPr/>
          <p:nvPr>
            <p:custDataLst>
              <p:tags r:id="rId7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2"/>
          <p:cNvSpPr txBox="1"/>
          <p:nvPr>
            <p:custDataLst>
              <p:tags r:id="rId8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41" name="TextBox 13"/>
          <p:cNvSpPr txBox="1"/>
          <p:nvPr>
            <p:custDataLst>
              <p:tags r:id="rId9"/>
            </p:custDataLst>
          </p:nvPr>
        </p:nvSpPr>
        <p:spPr>
          <a:xfrm>
            <a:off x="8430768" y="1938528"/>
            <a:ext cx="2697480" cy="709295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精确识别率约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70%；Top-5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与半区识别率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100%，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显著高于约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1.2%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的随机基线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pic>
        <p:nvPicPr>
          <p:cNvPr id="9" name="图片 8" descr="oracle_accuracy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0075" y="3218180"/>
            <a:ext cx="8050530" cy="2920365"/>
          </a:xfrm>
          <a:prstGeom prst="rect">
            <a:avLst/>
          </a:prstGeom>
        </p:spPr>
      </p:pic>
      <p:sp>
        <p:nvSpPr>
          <p:cNvPr id="6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3052"/>
          </a:solidFill>
          <a:ln>
            <a:solidFill>
              <a:srgbClr val="14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530352"/>
            <a:ext cx="11155680" cy="50292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2500" b="1">
                <a:solidFill>
                  <a:srgbClr val="143052"/>
                </a:solidFill>
                <a:latin typeface="微软雅黑" panose="020B0503020204020204" charset="-122"/>
              </a:rPr>
              <a:t>测试点十：访存与计算吞吐饱和</a:t>
            </a:r>
            <a:endParaRPr sz="25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685530" y="3629533"/>
            <a:ext cx="2744469" cy="2038604"/>
          </a:xfrm>
          <a:prstGeom prst="rect">
            <a:avLst/>
          </a:prstGeom>
          <a:noFill/>
        </p:spPr>
        <p:txBody>
          <a:bodyPr wrap="square" lIns="54864" tIns="36576" rIns="54864" bIns="36576" anchor="t">
            <a:noAutofit/>
          </a:bodyPr>
          <a:lstStyle/>
          <a:p>
            <a:pPr algn="l"/>
            <a:r>
              <a:rPr sz="1300" b="1" dirty="0" err="1">
                <a:solidFill>
                  <a:srgbClr val="00928E"/>
                </a:solidFill>
                <a:latin typeface="微软雅黑" panose="020B0503020204020204" charset="-122"/>
              </a:rPr>
              <a:t>该微基准清晰标定了从访存受限到计算受限的过渡区间</a:t>
            </a:r>
            <a:r>
              <a:rPr sz="1300" b="1" dirty="0">
                <a:solidFill>
                  <a:srgbClr val="00928E"/>
                </a:solidFill>
                <a:latin typeface="微软雅黑" panose="020B0503020204020204" charset="-122"/>
              </a:rPr>
              <a:t>。</a:t>
            </a:r>
            <a:endParaRPr lang="en-US" sz="1300" b="1" dirty="0">
              <a:solidFill>
                <a:srgbClr val="00928E"/>
              </a:solidFill>
              <a:latin typeface="微软雅黑" panose="020B0503020204020204" charset="-122"/>
            </a:endParaRPr>
          </a:p>
          <a:p>
            <a:pPr algn="l"/>
            <a:endParaRPr lang="en-US" sz="1300" b="1" dirty="0">
              <a:solidFill>
                <a:srgbClr val="00928E"/>
              </a:solidFill>
              <a:latin typeface="微软雅黑" panose="020B0503020204020204" charset="-122"/>
            </a:endParaRPr>
          </a:p>
          <a:p>
            <a:pPr algn="l"/>
            <a:r>
              <a:rPr lang="en-US" altLang="zh-CN" sz="1300" b="1" dirty="0">
                <a:solidFill>
                  <a:srgbClr val="00928E"/>
                </a:solidFill>
                <a:latin typeface="微软雅黑" panose="020B0503020204020204" charset="-122"/>
              </a:rPr>
              <a:t>DRAM</a:t>
            </a:r>
            <a:r>
              <a:rPr lang="zh-CN" altLang="en-US" sz="1300" b="1" dirty="0">
                <a:solidFill>
                  <a:srgbClr val="00928E"/>
                </a:solidFill>
                <a:latin typeface="微软雅黑" panose="020B0503020204020204" charset="-122"/>
              </a:rPr>
              <a:t> 读</a:t>
            </a:r>
            <a:r>
              <a:rPr lang="en-US" altLang="zh-CN" sz="1300" b="1" dirty="0">
                <a:solidFill>
                  <a:srgbClr val="00928E"/>
                </a:solidFill>
                <a:latin typeface="微软雅黑" panose="020B0503020204020204" charset="-122"/>
              </a:rPr>
              <a:t>+</a:t>
            </a:r>
            <a:r>
              <a:rPr lang="zh-CN" altLang="en-US" sz="1300" b="1" dirty="0">
                <a:solidFill>
                  <a:srgbClr val="00928E"/>
                </a:solidFill>
                <a:latin typeface="微软雅黑" panose="020B0503020204020204" charset="-122"/>
              </a:rPr>
              <a:t>写带宽与前文 </a:t>
            </a:r>
            <a:r>
              <a:rPr lang="en-US" altLang="zh-CN" sz="1300" b="1" dirty="0">
                <a:solidFill>
                  <a:srgbClr val="00928E"/>
                </a:solidFill>
                <a:latin typeface="微软雅黑" panose="020B0503020204020204" charset="-122"/>
              </a:rPr>
              <a:t>795.78 GB/s </a:t>
            </a:r>
            <a:r>
              <a:rPr lang="zh-CN" altLang="en-US" sz="1300" b="1" dirty="0">
                <a:solidFill>
                  <a:srgbClr val="00928E"/>
                </a:solidFill>
                <a:latin typeface="微软雅黑" panose="020B0503020204020204" charset="-122"/>
              </a:rPr>
              <a:t>近似。</a:t>
            </a:r>
            <a:endParaRPr lang="en-US" altLang="zh-CN" sz="1300" b="1" dirty="0">
              <a:solidFill>
                <a:srgbClr val="00928E"/>
              </a:solidFill>
              <a:latin typeface="微软雅黑" panose="020B0503020204020204" charset="-122"/>
            </a:endParaRPr>
          </a:p>
          <a:p>
            <a:pPr algn="l"/>
            <a:endParaRPr lang="en-US" altLang="zh-CN" sz="1300" b="1" dirty="0">
              <a:solidFill>
                <a:srgbClr val="00928E"/>
              </a:solidFill>
              <a:latin typeface="微软雅黑" panose="020B0503020204020204" charset="-122"/>
            </a:endParaRPr>
          </a:p>
          <a:p>
            <a:pPr algn="l"/>
            <a:r>
              <a:rPr lang="en-US" altLang="zh-CN" sz="1300" b="1" dirty="0">
                <a:solidFill>
                  <a:srgbClr val="00928E"/>
                </a:solidFill>
                <a:latin typeface="微软雅黑" panose="020B0503020204020204" charset="-122"/>
              </a:rPr>
              <a:t>FP32 </a:t>
            </a:r>
            <a:r>
              <a:rPr lang="zh-CN" altLang="en-US" sz="1300" b="1" dirty="0">
                <a:solidFill>
                  <a:srgbClr val="00928E"/>
                </a:solidFill>
                <a:latin typeface="微软雅黑" panose="020B0503020204020204" charset="-122"/>
              </a:rPr>
              <a:t>峰值计算强度与官方 </a:t>
            </a:r>
            <a:r>
              <a:rPr lang="en-US" altLang="zh-CN" sz="1300" b="1" dirty="0">
                <a:solidFill>
                  <a:srgbClr val="00928E"/>
                </a:solidFill>
                <a:latin typeface="微软雅黑" panose="020B0503020204020204" charset="-122"/>
              </a:rPr>
              <a:t>56.3 TFLOPS </a:t>
            </a:r>
            <a:r>
              <a:rPr lang="zh-CN" altLang="en-US" sz="1300" b="1" dirty="0">
                <a:solidFill>
                  <a:srgbClr val="00928E"/>
                </a:solidFill>
                <a:latin typeface="微软雅黑" panose="020B0503020204020204" charset="-122"/>
              </a:rPr>
              <a:t>近似。</a:t>
            </a:r>
            <a:endParaRPr lang="en-US" altLang="zh-CN" sz="1300" b="1" dirty="0">
              <a:solidFill>
                <a:srgbClr val="00928E"/>
              </a:solidFill>
              <a:latin typeface="微软雅黑" panose="020B0503020204020204" charset="-122"/>
            </a:endParaRPr>
          </a:p>
          <a:p>
            <a:pPr algn="l"/>
            <a:endParaRPr lang="en-US" altLang="zh-CN" sz="1300" b="1" dirty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pic>
        <p:nvPicPr>
          <p:cNvPr id="16" name="图片 15" descr="roofline_satura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120" y="3218180"/>
            <a:ext cx="8106410" cy="28613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11112" y="1335024"/>
            <a:ext cx="4425696" cy="2286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200" b="1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200" b="1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11112" y="2459736"/>
            <a:ext cx="4425696" cy="228600"/>
          </a:xfrm>
          <a:prstGeom prst="rect">
            <a:avLst/>
          </a:prstGeom>
          <a:noFill/>
        </p:spPr>
        <p:txBody>
          <a:bodyPr wrap="square" lIns="54864" tIns="36576" rIns="54864" bIns="36576" anchor="t">
            <a:spAutoFit/>
          </a:bodyPr>
          <a:lstStyle/>
          <a:p>
            <a:pPr algn="l"/>
            <a:r>
              <a:rPr sz="1200" b="1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200" b="1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5"/>
          <p:cNvSpPr/>
          <p:nvPr>
            <p:custDataLst>
              <p:tags r:id="rId2"/>
            </p:custDataLst>
          </p:nvPr>
        </p:nvSpPr>
        <p:spPr>
          <a:xfrm>
            <a:off x="68580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solidFill>
              <a:srgbClr val="E5EF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6"/>
          <p:cNvSpPr txBox="1"/>
          <p:nvPr>
            <p:custDataLst>
              <p:tags r:id="rId3"/>
            </p:custDataLst>
          </p:nvPr>
        </p:nvSpPr>
        <p:spPr>
          <a:xfrm>
            <a:off x="93268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43052"/>
                </a:solidFill>
                <a:latin typeface="微软雅黑" panose="020B0503020204020204" charset="-122"/>
              </a:rPr>
              <a:t>目标</a:t>
            </a:r>
            <a:endParaRPr sz="15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7"/>
          <p:cNvSpPr txBox="1"/>
          <p:nvPr>
            <p:custDataLst>
              <p:tags r:id="rId4"/>
            </p:custDataLst>
          </p:nvPr>
        </p:nvSpPr>
        <p:spPr>
          <a:xfrm>
            <a:off x="93268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识别负载从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memory-bound 到 compute-bound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的转换</a:t>
            </a:r>
            <a:endParaRPr sz="1300" i="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8"/>
          <p:cNvSpPr/>
          <p:nvPr>
            <p:custDataLst>
              <p:tags r:id="rId5"/>
            </p:custDataLst>
          </p:nvPr>
        </p:nvSpPr>
        <p:spPr>
          <a:xfrm>
            <a:off x="4434840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E2F5F2"/>
          </a:solidFill>
          <a:ln>
            <a:solidFill>
              <a:srgbClr val="E2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9"/>
          <p:cNvSpPr txBox="1"/>
          <p:nvPr>
            <p:custDataLst>
              <p:tags r:id="rId6"/>
            </p:custDataLst>
          </p:nvPr>
        </p:nvSpPr>
        <p:spPr>
          <a:xfrm>
            <a:off x="468172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0928E"/>
                </a:solidFill>
                <a:latin typeface="微软雅黑" panose="020B0503020204020204" charset="-122"/>
              </a:rPr>
              <a:t>思路</a:t>
            </a:r>
            <a:endParaRPr sz="1500" b="1" i="0">
              <a:solidFill>
                <a:srgbClr val="00928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10"/>
          <p:cNvSpPr txBox="1"/>
          <p:nvPr>
            <p:custDataLst>
              <p:tags r:id="rId7"/>
            </p:custDataLst>
          </p:nvPr>
        </p:nvSpPr>
        <p:spPr>
          <a:xfrm>
            <a:off x="468172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固定一次全局读和写，逐步增加中间</a:t>
            </a:r>
            <a:r>
              <a:rPr sz="1300" dirty="0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 FMA </a:t>
            </a:r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数量以改变算术强度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11"/>
          <p:cNvSpPr/>
          <p:nvPr>
            <p:custDataLst>
              <p:tags r:id="rId8"/>
            </p:custDataLst>
          </p:nvPr>
        </p:nvSpPr>
        <p:spPr>
          <a:xfrm>
            <a:off x="8183879" y="1234440"/>
            <a:ext cx="3246120" cy="1645920"/>
          </a:xfrm>
          <a:prstGeom prst="roundRect">
            <a:avLst>
              <a:gd name="adj" fmla="val 8000"/>
            </a:avLst>
          </a:prstGeom>
          <a:solidFill>
            <a:srgbClr val="FCEFE1"/>
          </a:solidFill>
          <a:ln>
            <a:solidFill>
              <a:srgbClr val="FCEF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2"/>
          <p:cNvSpPr txBox="1"/>
          <p:nvPr>
            <p:custDataLst>
              <p:tags r:id="rId9"/>
            </p:custDataLst>
          </p:nvPr>
        </p:nvSpPr>
        <p:spPr>
          <a:xfrm>
            <a:off x="8430768" y="1536192"/>
            <a:ext cx="274320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E07E2D"/>
                </a:solidFill>
                <a:latin typeface="微软雅黑" panose="020B0503020204020204" charset="-122"/>
              </a:rPr>
              <a:t>结果</a:t>
            </a:r>
            <a:endParaRPr sz="1500" b="1" i="0">
              <a:solidFill>
                <a:srgbClr val="E07E2D"/>
              </a:solidFill>
              <a:latin typeface="微软雅黑" panose="020B0503020204020204" charset="-122"/>
            </a:endParaRPr>
          </a:p>
        </p:txBody>
      </p:sp>
      <p:sp>
        <p:nvSpPr>
          <p:cNvPr id="41" name="TextBox 13"/>
          <p:cNvSpPr txBox="1"/>
          <p:nvPr>
            <p:custDataLst>
              <p:tags r:id="rId10"/>
            </p:custDataLst>
          </p:nvPr>
        </p:nvSpPr>
        <p:spPr>
          <a:xfrm>
            <a:off x="8430768" y="1938528"/>
            <a:ext cx="2697480" cy="50927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300" dirty="0" err="1">
                <a:solidFill>
                  <a:srgbClr val="222D3A"/>
                </a:solidFill>
                <a:latin typeface="微软雅黑" panose="020B0503020204020204" charset="-122"/>
                <a:sym typeface="+mn-ea"/>
              </a:rPr>
              <a:t>低强度时带宽稳定；高强度时带宽下降、计算吞吐趋于饱和</a:t>
            </a:r>
            <a:endParaRPr sz="1300" dirty="0">
              <a:solidFill>
                <a:srgbClr val="222D3A"/>
              </a:solidFill>
              <a:latin typeface="微软雅黑" panose="020B0503020204020204" charset="-122"/>
            </a:endParaRPr>
          </a:p>
        </p:txBody>
      </p:sp>
      <p:cxnSp>
        <p:nvCxnSpPr>
          <p:cNvPr id="17" name="Connector 1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DA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589135" y="6489192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32835" y="2780030"/>
            <a:ext cx="4804410" cy="6629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lang="zh-CN" sz="3600" b="1" i="0">
                <a:solidFill>
                  <a:srgbClr val="143052"/>
                </a:solidFill>
                <a:latin typeface="微软雅黑" panose="020B0503020204020204" charset="-122"/>
              </a:rPr>
              <a:t>汇报到此结束，</a:t>
            </a:r>
            <a:r>
              <a:rPr lang="zh-CN" sz="3600" b="1" i="0">
                <a:solidFill>
                  <a:srgbClr val="143052"/>
                </a:solidFill>
                <a:latin typeface="微软雅黑" panose="020B0503020204020204" charset="-122"/>
              </a:rPr>
              <a:t>谢谢！</a:t>
            </a:r>
            <a:endParaRPr lang="zh-CN" sz="3600" b="1" i="0">
              <a:solidFill>
                <a:srgbClr val="143052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2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3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4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5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6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7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8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9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0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1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2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3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4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5.xml><?xml version="1.0" encoding="utf-8"?>
<p:tagLst xmlns:p="http://schemas.openxmlformats.org/presentationml/2006/main">
  <p:tag name="KSO_WM_DIAGRAM_VIRTUALLY_FRAME" val="{&quot;height&quot;:156.95999999999998,&quot;left&quot;:51.839999999999996,&quot;top&quot;:106.55999999999999,&quot;width&quot;:884.1599212598425}"/>
</p:tagLst>
</file>

<file path=ppt/tags/tag16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17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18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19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0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1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2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3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4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5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6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7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8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29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30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31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32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33.xml><?xml version="1.0" encoding="utf-8"?>
<p:tagLst xmlns:p="http://schemas.openxmlformats.org/presentationml/2006/main">
  <p:tag name="KSO_WM_DIAGRAM_VIRTUALLY_FRAME" val="{&quot;height&quot;:153.45,&quot;left&quot;:54,&quot;top&quot;:97.2,&quot;width&quot;:846}"/>
</p:tagLst>
</file>

<file path=ppt/tags/tag3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3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3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3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3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39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0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1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2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3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49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0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1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2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3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59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0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1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2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3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69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0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1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2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3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79.xml><?xml version="1.0" encoding="utf-8"?>
<p:tagLst xmlns:p="http://schemas.openxmlformats.org/presentationml/2006/main">
  <p:tag name="KSO_WM_DIAGRAM_VIRTUALLY_FRAME" val="{&quot;height&quot;:77.75999999999999,&quot;left&quot;:51.839999999999996,&quot;top&quot;:365.76,&quot;width&quot;:797.04}"/>
</p:tagLst>
</file>

<file path=ppt/tags/tag80.xml><?xml version="1.0" encoding="utf-8"?>
<p:tagLst xmlns:p="http://schemas.openxmlformats.org/presentationml/2006/main">
  <p:tag name="KSO_WM_DIAGRAM_VIRTUALLY_FRAME" val="{&quot;height&quot;:77.75999999999999,&quot;left&quot;:51.839999999999996,&quot;top&quot;:365.76,&quot;width&quot;:797.04}"/>
</p:tagLst>
</file>

<file path=ppt/tags/tag81.xml><?xml version="1.0" encoding="utf-8"?>
<p:tagLst xmlns:p="http://schemas.openxmlformats.org/presentationml/2006/main">
  <p:tag name="KSO_WM_DIAGRAM_VIRTUALLY_FRAME" val="{&quot;height&quot;:370.79999999999995,&quot;left&quot;:39.6,&quot;top&quot;:87.84,&quot;width&quot;:885.6}"/>
</p:tagLst>
</file>

<file path=ppt/tags/tag82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3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89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0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1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2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3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4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5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6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7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8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ags/tag99.xml><?xml version="1.0" encoding="utf-8"?>
<p:tagLst xmlns:p="http://schemas.openxmlformats.org/presentationml/2006/main">
  <p:tag name="KSO_WM_DIAGRAM_VIRTUALLY_FRAME" val="{&quot;height&quot;:129.6,&quot;left&quot;:54,&quot;top&quot;:97.2,&quot;width&quot;:845.99992125984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2852</Words>
  <Application>WPS 演示</Application>
  <PresentationFormat>宽屏</PresentationFormat>
  <Paragraphs>355</Paragraphs>
  <Slides>18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Cambria Math</vt:lpstr>
      <vt:lpstr>MS Mincho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图南</cp:lastModifiedBy>
  <cp:revision>144</cp:revision>
  <dcterms:created xsi:type="dcterms:W3CDTF">2013-01-27T09:14:00Z</dcterms:created>
  <dcterms:modified xsi:type="dcterms:W3CDTF">2026-08-14T07:29:49Z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4F83BEF2F78F451EBBEEFDAB6F79316D_12</vt:lpwstr>
  </property>
  <property fmtid="{D5CDD505-2E9C-101B-9397-08002B2CF9AE}" pid="3" name="KSOProductBuildVer">
    <vt:lpwstr>2052-12.1.0.28043</vt:lpwstr>
  </property>
</Properties>
</file>